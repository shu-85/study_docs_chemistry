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9" r:id="rId7"/>
    <p:sldId id="260" r:id="rId8"/>
    <p:sldId id="261" r:id="rId9"/>
    <p:sldId id="268" r:id="rId10"/>
    <p:sldId id="264" r:id="rId11"/>
    <p:sldId id="270" r:id="rId12"/>
    <p:sldId id="262" r:id="rId13"/>
    <p:sldId id="263" r:id="rId14"/>
    <p:sldId id="265" r:id="rId15"/>
    <p:sldId id="266" r:id="rId16"/>
    <p:sldId id="267" r:id="rId17"/>
  </p:sldIdLst>
  <p:sldSz cx="12192000" cy="68580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gD7cLvvGDEGBvUrYwFlc6WHH5A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5113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22c17b2ba1_0_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" name="Google Shape;67;g122c17b2ba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" name="Google Shape;8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31c36fdae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31c36fdaea_0_5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31c36fdae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g131c36fdaea_0_5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917212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1c36fdae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31c36fdaea_0_12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31c36fdae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131c36fdaea_0_12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7016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31c36fdaea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131c36fdaea_0_21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31c36fdae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131c36fdaea_0_33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131c36fdaea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131c36fdaea_0_53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2" name="Google Shape;13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venir"/>
              <a:buNone/>
              <a:defRPr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4"/>
          <p:cNvSpPr txBox="1">
            <a:spLocks noGrp="1"/>
          </p:cNvSpPr>
          <p:nvPr>
            <p:ph type="ctrTitle"/>
          </p:nvPr>
        </p:nvSpPr>
        <p:spPr>
          <a:xfrm>
            <a:off x="651641" y="1122363"/>
            <a:ext cx="1001635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venir"/>
              <a:buNone/>
              <a:defRPr sz="5400" b="0" i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subTitle" idx="1"/>
          </p:nvPr>
        </p:nvSpPr>
        <p:spPr>
          <a:xfrm>
            <a:off x="651641" y="3602038"/>
            <a:ext cx="1001635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0" i="0">
                <a:solidFill>
                  <a:schemeClr val="l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venir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venir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Font typeface="Avenir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5657850"/>
            <a:ext cx="1877915" cy="8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venir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40" name="Google Shape;4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5657850"/>
            <a:ext cx="1877915" cy="82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2"/>
          <p:cNvSpPr txBox="1">
            <a:spLocks noGrp="1"/>
          </p:cNvSpPr>
          <p:nvPr>
            <p:ph type="title"/>
          </p:nvPr>
        </p:nvSpPr>
        <p:spPr>
          <a:xfrm>
            <a:off x="528638" y="1709738"/>
            <a:ext cx="10818812" cy="233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Avenir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1"/>
          </p:nvPr>
        </p:nvSpPr>
        <p:spPr>
          <a:xfrm>
            <a:off x="528638" y="4171951"/>
            <a:ext cx="10818812" cy="1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C9C9"/>
              </a:buClr>
              <a:buSzPts val="2400"/>
              <a:buNone/>
              <a:defRPr sz="2400">
                <a:solidFill>
                  <a:srgbClr val="C8C9C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2000"/>
              <a:buNone/>
              <a:defRPr sz="2000">
                <a:solidFill>
                  <a:srgbClr val="C8C9C9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800"/>
              <a:buNone/>
              <a:defRPr sz="1800">
                <a:solidFill>
                  <a:srgbClr val="C8C9C9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600"/>
              <a:buNone/>
              <a:defRPr sz="1600">
                <a:solidFill>
                  <a:srgbClr val="C8C9C9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600"/>
              <a:buNone/>
              <a:defRPr sz="1600">
                <a:solidFill>
                  <a:srgbClr val="C8C9C9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600"/>
              <a:buNone/>
              <a:defRPr sz="1600">
                <a:solidFill>
                  <a:srgbClr val="C8C9C9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600"/>
              <a:buNone/>
              <a:defRPr sz="1600">
                <a:solidFill>
                  <a:srgbClr val="C8C9C9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600"/>
              <a:buNone/>
              <a:defRPr sz="1600">
                <a:solidFill>
                  <a:srgbClr val="C8C9C9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600"/>
              <a:buNone/>
              <a:defRPr sz="1600">
                <a:solidFill>
                  <a:srgbClr val="C8C9C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8" name="Google Shape;48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5657850"/>
            <a:ext cx="1877915" cy="82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4"/>
          <p:cNvSpPr txBox="1">
            <a:spLocks noGrp="1"/>
          </p:cNvSpPr>
          <p:nvPr>
            <p:ph type="ctrTitle"/>
          </p:nvPr>
        </p:nvSpPr>
        <p:spPr>
          <a:xfrm>
            <a:off x="651641" y="1122363"/>
            <a:ext cx="1001635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venir"/>
              <a:buNone/>
              <a:defRPr sz="5400" b="0" i="0">
                <a:solidFill>
                  <a:schemeClr val="dk1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subTitle" idx="1"/>
          </p:nvPr>
        </p:nvSpPr>
        <p:spPr>
          <a:xfrm>
            <a:off x="651641" y="3602038"/>
            <a:ext cx="1001635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0" i="0">
                <a:solidFill>
                  <a:schemeClr val="lt2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6438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400"/>
              <a:buFont typeface="Avenir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7327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venir"/>
              <a:buNone/>
              <a:defRPr>
                <a:solidFill>
                  <a:schemeClr val="accent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33100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venir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270266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Font typeface="Avenir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67059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5657850"/>
            <a:ext cx="1877915" cy="82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78786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venir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Google Shape;39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40" name="Google Shape;4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5657850"/>
            <a:ext cx="1877915" cy="825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42681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2"/>
          <p:cNvSpPr txBox="1">
            <a:spLocks noGrp="1"/>
          </p:cNvSpPr>
          <p:nvPr>
            <p:ph type="title"/>
          </p:nvPr>
        </p:nvSpPr>
        <p:spPr>
          <a:xfrm>
            <a:off x="528638" y="1709738"/>
            <a:ext cx="10818812" cy="233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Avenir"/>
              <a:buNone/>
              <a:defRPr sz="6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1"/>
          </p:nvPr>
        </p:nvSpPr>
        <p:spPr>
          <a:xfrm>
            <a:off x="528638" y="4171951"/>
            <a:ext cx="10818812" cy="19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8C9C9"/>
              </a:buClr>
              <a:buSzPts val="2400"/>
              <a:buNone/>
              <a:defRPr sz="2400">
                <a:solidFill>
                  <a:srgbClr val="C8C9C9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2000"/>
              <a:buNone/>
              <a:defRPr sz="2000">
                <a:solidFill>
                  <a:srgbClr val="C8C9C9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800"/>
              <a:buNone/>
              <a:defRPr sz="1800">
                <a:solidFill>
                  <a:srgbClr val="C8C9C9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600"/>
              <a:buNone/>
              <a:defRPr sz="1600">
                <a:solidFill>
                  <a:srgbClr val="C8C9C9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600"/>
              <a:buNone/>
              <a:defRPr sz="1600">
                <a:solidFill>
                  <a:srgbClr val="C8C9C9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600"/>
              <a:buNone/>
              <a:defRPr sz="1600">
                <a:solidFill>
                  <a:srgbClr val="C8C9C9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600"/>
              <a:buNone/>
              <a:defRPr sz="1600">
                <a:solidFill>
                  <a:srgbClr val="C8C9C9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600"/>
              <a:buNone/>
              <a:defRPr sz="1600">
                <a:solidFill>
                  <a:srgbClr val="C8C9C9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8C9C9"/>
              </a:buClr>
              <a:buSzPts val="1600"/>
              <a:buNone/>
              <a:defRPr sz="1600">
                <a:solidFill>
                  <a:srgbClr val="C8C9C9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627171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8" name="Google Shape;48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9100" y="5657850"/>
            <a:ext cx="1877915" cy="825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53074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949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venir"/>
              <a:buNone/>
              <a:defRPr sz="4400" b="0" i="0" u="none" strike="noStrike" cap="none">
                <a:solidFill>
                  <a:schemeClr val="accent3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venir"/>
              <a:buNone/>
              <a:defRPr sz="4400" b="0" i="0" u="none" strike="noStrike" cap="none">
                <a:solidFill>
                  <a:schemeClr val="accent3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7595A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7595A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57595A"/>
                </a:solidFill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1066886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KxcQYZ2YH8&amp;t=168s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tKxcQYZ2YH8&amp;t=168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>
            <a:spLocks noGrp="1"/>
          </p:cNvSpPr>
          <p:nvPr>
            <p:ph type="title"/>
          </p:nvPr>
        </p:nvSpPr>
        <p:spPr>
          <a:xfrm>
            <a:off x="193800" y="51850"/>
            <a:ext cx="10515600" cy="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51724"/>
              <a:buFont typeface="Avenir"/>
              <a:buNone/>
            </a:pPr>
            <a:r>
              <a:rPr lang="en-US" sz="2900" b="1" u="sng">
                <a:solidFill>
                  <a:schemeClr val="accent6"/>
                </a:solidFill>
              </a:rPr>
              <a:t>Copy and answer questions in your books</a:t>
            </a:r>
            <a:endParaRPr sz="2900" b="1" u="sng">
              <a:solidFill>
                <a:schemeClr val="accent6"/>
              </a:solidFill>
            </a:endParaRPr>
          </a:p>
        </p:txBody>
      </p:sp>
      <p:sp>
        <p:nvSpPr>
          <p:cNvPr id="60" name="Google Shape;60;p2"/>
          <p:cNvSpPr txBox="1">
            <a:spLocks noGrp="1"/>
          </p:cNvSpPr>
          <p:nvPr>
            <p:ph type="body" idx="1"/>
          </p:nvPr>
        </p:nvSpPr>
        <p:spPr>
          <a:xfrm>
            <a:off x="621275" y="1433726"/>
            <a:ext cx="10732500" cy="47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595A"/>
              </a:buClr>
              <a:buSzPts val="2800"/>
              <a:buNone/>
            </a:pPr>
            <a:endParaRPr sz="3900">
              <a:solidFill>
                <a:schemeClr val="accent6"/>
              </a:solidFill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860225" y="3285625"/>
            <a:ext cx="97971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endParaRPr sz="3400" b="0" i="0" u="none" strike="noStrike" cap="none">
              <a:solidFill>
                <a:schemeClr val="accent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62" name="Google Shape;6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1250" y="502750"/>
            <a:ext cx="9144725" cy="54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 txBox="1"/>
          <p:nvPr/>
        </p:nvSpPr>
        <p:spPr>
          <a:xfrm>
            <a:off x="915050" y="3067325"/>
            <a:ext cx="2577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lower than</a:t>
            </a:r>
            <a:endParaRPr sz="2100" b="0" i="0" u="none" strike="noStrike" cap="none">
              <a:solidFill>
                <a:schemeClr val="accent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824825" y="5077850"/>
            <a:ext cx="4472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thermometer</a:t>
            </a:r>
            <a:endParaRPr sz="2000" b="0" i="0" u="none" strike="noStrike" cap="none">
              <a:solidFill>
                <a:schemeClr val="accent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22c17b2ba1_0_0"/>
          <p:cNvSpPr txBox="1">
            <a:spLocks noGrp="1"/>
          </p:cNvSpPr>
          <p:nvPr>
            <p:ph type="body" idx="1"/>
          </p:nvPr>
        </p:nvSpPr>
        <p:spPr>
          <a:xfrm>
            <a:off x="838200" y="73713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595A"/>
              </a:buClr>
              <a:buSzPts val="2800"/>
              <a:buNone/>
            </a:pPr>
            <a:endParaRPr sz="96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"/>
          <p:cNvSpPr txBox="1">
            <a:spLocks noGrp="1"/>
          </p:cNvSpPr>
          <p:nvPr>
            <p:ph type="ctrTitle"/>
          </p:nvPr>
        </p:nvSpPr>
        <p:spPr>
          <a:xfrm>
            <a:off x="651641" y="1122363"/>
            <a:ext cx="1001635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57200" lvl="0" indent="0" algn="l" rtl="0">
              <a:lnSpc>
                <a:spcPct val="120000"/>
              </a:lnSpc>
              <a:spcBef>
                <a:spcPts val="1600"/>
              </a:spcBef>
              <a:spcAft>
                <a:spcPts val="0"/>
              </a:spcAft>
              <a:buSzPts val="5400"/>
              <a:buNone/>
            </a:pPr>
            <a:endParaRPr sz="1600">
              <a:solidFill>
                <a:srgbClr val="AE266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venir"/>
              <a:buNone/>
            </a:pPr>
            <a:endParaRPr/>
          </a:p>
        </p:txBody>
      </p:sp>
      <p:sp>
        <p:nvSpPr>
          <p:cNvPr id="75" name="Google Shape;75;p1"/>
          <p:cNvSpPr txBox="1">
            <a:spLocks noGrp="1"/>
          </p:cNvSpPr>
          <p:nvPr>
            <p:ph type="subTitle" idx="1"/>
          </p:nvPr>
        </p:nvSpPr>
        <p:spPr>
          <a:xfrm>
            <a:off x="525700" y="382329"/>
            <a:ext cx="10381200" cy="22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</a:pPr>
            <a:r>
              <a:rPr lang="en-US" sz="3700" b="1" u="sng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Required Practical- Temperature Change</a:t>
            </a:r>
            <a:endParaRPr sz="4100" u="sng">
              <a:solidFill>
                <a:srgbClr val="000000"/>
              </a:solidFill>
              <a:highlight>
                <a:schemeClr val="lt1"/>
              </a:highlight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7718250" y="2425375"/>
            <a:ext cx="33693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sng" strike="noStrike" cap="none">
                <a:solidFill>
                  <a:srgbClr val="FFFFFF"/>
                </a:solidFill>
                <a:latin typeface="Avenir"/>
                <a:ea typeface="Avenir"/>
                <a:cs typeface="Avenir"/>
                <a:sym typeface="Avenir"/>
              </a:rPr>
              <a:t>Keywords</a:t>
            </a:r>
            <a:endParaRPr sz="3600" b="1" i="0" u="sng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temperature</a:t>
            </a: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carbonate</a:t>
            </a:r>
            <a:endParaRPr sz="32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variable </a:t>
            </a:r>
            <a:endParaRPr sz="3600" b="0" i="0" u="none" strike="noStrike" cap="none">
              <a:solidFill>
                <a:srgbClr val="FFFFFF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600"/>
              </a:spcAft>
              <a:buSzPts val="4400"/>
              <a:buNone/>
            </a:pPr>
            <a:r>
              <a:rPr lang="en-US" sz="2500" b="1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objectives:</a:t>
            </a:r>
            <a:endParaRPr sz="5500" u="sng"/>
          </a:p>
        </p:txBody>
      </p:sp>
      <p:sp>
        <p:nvSpPr>
          <p:cNvPr id="82" name="Google Shape;82;p3"/>
          <p:cNvSpPr txBox="1">
            <a:spLocks noGrp="1"/>
          </p:cNvSpPr>
          <p:nvPr>
            <p:ph type="body" idx="1"/>
          </p:nvPr>
        </p:nvSpPr>
        <p:spPr>
          <a:xfrm>
            <a:off x="503650" y="149110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None/>
            </a:pPr>
            <a:endParaRPr sz="14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lvl="0" indent="-381000" algn="l" rtl="0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scientific theories and explanations to develop hypotheses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 experiments to make observations and test hypotheses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95300" lvl="0" indent="-3810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methods to suggest possible improvements and further investigations.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20000"/>
              </a:lnSpc>
              <a:spcBef>
                <a:spcPts val="1600"/>
              </a:spcBef>
              <a:spcAft>
                <a:spcPts val="2200"/>
              </a:spcAft>
              <a:buSzPts val="1800"/>
              <a:buNone/>
            </a:pPr>
            <a:endParaRPr sz="4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>
            <a:spLocks noGrp="1"/>
          </p:cNvSpPr>
          <p:nvPr>
            <p:ph type="title"/>
          </p:nvPr>
        </p:nvSpPr>
        <p:spPr>
          <a:xfrm>
            <a:off x="160700" y="0"/>
            <a:ext cx="10515600" cy="8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Avenir"/>
              <a:buNone/>
            </a:pPr>
            <a:r>
              <a:rPr lang="en-US" b="1" u="sng">
                <a:solidFill>
                  <a:srgbClr val="FF0000"/>
                </a:solidFill>
              </a:rPr>
              <a:t>Do Now- in the front of your book answer the questions below</a:t>
            </a:r>
            <a:endParaRPr b="1" u="sng">
              <a:solidFill>
                <a:srgbClr val="FF0000"/>
              </a:solidFill>
            </a:endParaRPr>
          </a:p>
        </p:txBody>
      </p:sp>
      <p:sp>
        <p:nvSpPr>
          <p:cNvPr id="60" name="Google Shape;60;p2"/>
          <p:cNvSpPr txBox="1">
            <a:spLocks noGrp="1"/>
          </p:cNvSpPr>
          <p:nvPr>
            <p:ph type="body" idx="1"/>
          </p:nvPr>
        </p:nvSpPr>
        <p:spPr>
          <a:xfrm>
            <a:off x="838200" y="1382651"/>
            <a:ext cx="10515600" cy="479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595A"/>
              </a:buClr>
              <a:buSzPts val="2800"/>
              <a:buNone/>
            </a:pPr>
            <a:endParaRPr/>
          </a:p>
        </p:txBody>
      </p:sp>
      <p:pic>
        <p:nvPicPr>
          <p:cNvPr id="61" name="Google Shape;61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2" y="1038225"/>
            <a:ext cx="9222500" cy="5819775"/>
          </a:xfrm>
          <a:prstGeom prst="rect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62" name="Google Shape;62;p2"/>
          <p:cNvCxnSpPr/>
          <p:nvPr/>
        </p:nvCxnSpPr>
        <p:spPr>
          <a:xfrm>
            <a:off x="4189475" y="2674075"/>
            <a:ext cx="1866600" cy="2239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2"/>
          <p:cNvCxnSpPr/>
          <p:nvPr/>
        </p:nvCxnSpPr>
        <p:spPr>
          <a:xfrm>
            <a:off x="4147975" y="3835500"/>
            <a:ext cx="2281500" cy="5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" name="Google Shape;64;p2"/>
          <p:cNvCxnSpPr/>
          <p:nvPr/>
        </p:nvCxnSpPr>
        <p:spPr>
          <a:xfrm>
            <a:off x="4009725" y="4913975"/>
            <a:ext cx="2281500" cy="1037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" name="Google Shape;65;p2"/>
          <p:cNvCxnSpPr/>
          <p:nvPr/>
        </p:nvCxnSpPr>
        <p:spPr>
          <a:xfrm rot="10800000" flipH="1">
            <a:off x="4189475" y="2591025"/>
            <a:ext cx="1797600" cy="3539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 txBox="1">
            <a:spLocks noGrp="1"/>
          </p:cNvSpPr>
          <p:nvPr>
            <p:ph type="title"/>
          </p:nvPr>
        </p:nvSpPr>
        <p:spPr>
          <a:xfrm>
            <a:off x="0" y="268650"/>
            <a:ext cx="10515600" cy="41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Avenir"/>
              <a:buNone/>
            </a:pPr>
            <a:r>
              <a:rPr lang="en-US"/>
              <a:t>Equipment</a:t>
            </a:r>
            <a:endParaRPr/>
          </a:p>
        </p:txBody>
      </p:sp>
      <p:sp>
        <p:nvSpPr>
          <p:cNvPr id="88" name="Google Shape;88;p4"/>
          <p:cNvSpPr txBox="1">
            <a:spLocks noGrp="1"/>
          </p:cNvSpPr>
          <p:nvPr>
            <p:ph type="body" idx="1"/>
          </p:nvPr>
        </p:nvSpPr>
        <p:spPr>
          <a:xfrm>
            <a:off x="6656375" y="982225"/>
            <a:ext cx="11127000" cy="53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•"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50cm</a:t>
            </a:r>
            <a:r>
              <a:rPr lang="en-US" sz="5200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measuring cylinder</a:t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Char char="•"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thermometer</a:t>
            </a:r>
            <a:endParaRPr sz="3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0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Calibri"/>
              <a:buChar char="•"/>
            </a:pPr>
            <a:r>
              <a:rPr lang="en-US" sz="3500">
                <a:solidFill>
                  <a:srgbClr val="000000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Safety goggles</a:t>
            </a:r>
            <a:endParaRPr sz="3500">
              <a:solidFill>
                <a:srgbClr val="00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7595A"/>
              </a:buClr>
              <a:buSzPts val="2800"/>
              <a:buNone/>
            </a:pPr>
            <a:endParaRPr sz="3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57950" y="1054300"/>
            <a:ext cx="11127000" cy="53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44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Char char="•"/>
            </a:pPr>
            <a:r>
              <a:rPr lang="en-US" sz="3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Dilute hydrochloric acid</a:t>
            </a:r>
            <a:endParaRPr sz="3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44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Char char="•"/>
            </a:pPr>
            <a:r>
              <a:rPr lang="en-US" sz="3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Dilute sodium hydroxide solution</a:t>
            </a:r>
            <a:endParaRPr sz="3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44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Char char="•"/>
            </a:pPr>
            <a:r>
              <a:rPr lang="en-US" sz="3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polystyrene cup and lid</a:t>
            </a:r>
            <a:endParaRPr sz="3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44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Char char="•"/>
            </a:pPr>
            <a:r>
              <a:rPr lang="en-US" sz="3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250 cm3 beaker</a:t>
            </a:r>
            <a:endParaRPr sz="3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44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Calibri"/>
              <a:buChar char="•"/>
            </a:pPr>
            <a:r>
              <a:rPr lang="en-US" sz="3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10cm3 measuring cylinder</a:t>
            </a:r>
            <a:endParaRPr sz="3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300">
              <a:solidFill>
                <a:srgbClr val="000000"/>
              </a:solidFill>
              <a:highlight>
                <a:srgbClr val="FFFFFF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57595A"/>
              </a:buClr>
              <a:buSzPts val="2800"/>
              <a:buNone/>
            </a:pPr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1c36fdaea_0_5"/>
          <p:cNvSpPr txBox="1">
            <a:spLocks noGrp="1"/>
          </p:cNvSpPr>
          <p:nvPr>
            <p:ph type="title"/>
          </p:nvPr>
        </p:nvSpPr>
        <p:spPr>
          <a:xfrm>
            <a:off x="216925" y="150075"/>
            <a:ext cx="105156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700" u="sng">
                <a:solidFill>
                  <a:srgbClr val="000000"/>
                </a:solidFill>
              </a:rPr>
              <a:t>Method</a:t>
            </a:r>
            <a:endParaRPr sz="3700" u="sng">
              <a:solidFill>
                <a:srgbClr val="000000"/>
              </a:solidFill>
            </a:endParaRPr>
          </a:p>
        </p:txBody>
      </p:sp>
      <p:sp>
        <p:nvSpPr>
          <p:cNvPr id="95" name="Google Shape;95;g131c36fdaea_0_5"/>
          <p:cNvSpPr txBox="1">
            <a:spLocks noGrp="1"/>
          </p:cNvSpPr>
          <p:nvPr>
            <p:ph type="body" idx="1"/>
          </p:nvPr>
        </p:nvSpPr>
        <p:spPr>
          <a:xfrm>
            <a:off x="110625" y="823575"/>
            <a:ext cx="11884800" cy="56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Measure 30cm</a:t>
            </a:r>
            <a:r>
              <a:rPr lang="en-US" sz="3061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dilute hydrochloric acid and put it into the polystyrene cup.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Stand the cup inside the beaker. This will make it more stable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the thermometer to measure the temperature of the acid. Record your result in the table.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Measure 5cm</a:t>
            </a:r>
            <a:r>
              <a:rPr lang="en-US" sz="3061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sodium hydroxide solution.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Pour the sodium hydroxide into the polystyrene cup. Fit the lid and gently stir the solution with the thermometer through the hole.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Look carefully at the temperature rise on the thermometer.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the reading on the thermometer stops changing, record the highest temperature reached in the table.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Repeat steps 4-7 to add further 5cm</a:t>
            </a:r>
            <a:r>
              <a:rPr lang="en-US" sz="3061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amounts of sodium hydroxide to the cup each time, recording your temperature reading in the results table.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Repeat until a maximum of 40cm</a:t>
            </a:r>
            <a:r>
              <a:rPr lang="en-US" sz="3061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sodium hydroxide has been added.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Wash out all the equipment and repeat the experiment for your second trial.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605"/>
              <a:buNone/>
            </a:pPr>
            <a:endParaRPr sz="162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70000"/>
              </a:lnSpc>
              <a:spcBef>
                <a:spcPts val="3600"/>
              </a:spcBef>
              <a:spcAft>
                <a:spcPts val="0"/>
              </a:spcAft>
              <a:buSzPts val="605"/>
              <a:buNone/>
            </a:pPr>
            <a:endParaRPr sz="1840"/>
          </a:p>
        </p:txBody>
      </p:sp>
      <p:sp>
        <p:nvSpPr>
          <p:cNvPr id="96" name="Google Shape;96;g131c36fdaea_0_5"/>
          <p:cNvSpPr txBox="1"/>
          <p:nvPr/>
        </p:nvSpPr>
        <p:spPr>
          <a:xfrm>
            <a:off x="2319825" y="5980000"/>
            <a:ext cx="6302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sng" strike="noStrike" cap="none">
                <a:solidFill>
                  <a:schemeClr val="hlink"/>
                </a:solidFill>
                <a:latin typeface="Avenir"/>
                <a:ea typeface="Avenir"/>
                <a:cs typeface="Avenir"/>
                <a:sym typeface="Avenir"/>
                <a:hlinkClick r:id="rId3"/>
              </a:rPr>
              <a:t>https://www.youtube.com/watch?v=tKxcQYZ2YH8&amp;t=168s</a:t>
            </a: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31c36fdaea_0_5"/>
          <p:cNvSpPr txBox="1">
            <a:spLocks noGrp="1"/>
          </p:cNvSpPr>
          <p:nvPr>
            <p:ph type="title"/>
          </p:nvPr>
        </p:nvSpPr>
        <p:spPr>
          <a:xfrm>
            <a:off x="216925" y="150075"/>
            <a:ext cx="105156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sz="3700" u="sng">
                <a:solidFill>
                  <a:srgbClr val="000000"/>
                </a:solidFill>
              </a:rPr>
              <a:t>Method</a:t>
            </a:r>
            <a:endParaRPr sz="3700" u="sng">
              <a:solidFill>
                <a:srgbClr val="000000"/>
              </a:solidFill>
            </a:endParaRPr>
          </a:p>
        </p:txBody>
      </p:sp>
      <p:sp>
        <p:nvSpPr>
          <p:cNvPr id="95" name="Google Shape;95;g131c36fdaea_0_5"/>
          <p:cNvSpPr txBox="1">
            <a:spLocks noGrp="1"/>
          </p:cNvSpPr>
          <p:nvPr>
            <p:ph type="body" idx="1"/>
          </p:nvPr>
        </p:nvSpPr>
        <p:spPr>
          <a:xfrm>
            <a:off x="110625" y="823575"/>
            <a:ext cx="11884800" cy="56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Measure 30cm</a:t>
            </a:r>
            <a:r>
              <a:rPr lang="en-US" sz="3061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dilute hydrochloric acid and put it into the polystyrene cup.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Stand the cup inside the beaker. This will make it more stable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 the thermometer to measure the temperature of the acid. Record your result in the table.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Measure 5cm</a:t>
            </a:r>
            <a:r>
              <a:rPr lang="en-US" sz="3061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sodium hydroxide solution.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Pour the sodium hydroxide into the polystyrene cup. Fit the lid and gently stir the solution with the thermometer through the hole.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Look carefully at the temperature rise on the thermometer.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the reading on the thermometer stops changing, record the highest temperature reached in the table.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Repeat steps 4-7 to add further 5cm</a:t>
            </a:r>
            <a:r>
              <a:rPr lang="en-US" sz="3061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amounts of sodium hydroxide to the cup each time, recording your temperature reading in the results table.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Repeat until a maximum of 40cm</a:t>
            </a:r>
            <a:r>
              <a:rPr lang="en-US" sz="3061" baseline="30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of sodium hydroxide has been added.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-US" sz="240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</a:t>
            </a:r>
            <a:r>
              <a:rPr lang="en-US" sz="240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Wash out all the equipment and repeat the experiment for your second trial.</a:t>
            </a:r>
            <a:endParaRPr sz="240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lnSpc>
                <a:spcPct val="95000"/>
              </a:lnSpc>
              <a:spcBef>
                <a:spcPts val="2400"/>
              </a:spcBef>
              <a:spcAft>
                <a:spcPts val="0"/>
              </a:spcAft>
              <a:buSzPts val="605"/>
              <a:buNone/>
            </a:pPr>
            <a:endParaRPr sz="162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70000"/>
              </a:lnSpc>
              <a:spcBef>
                <a:spcPts val="3600"/>
              </a:spcBef>
              <a:spcAft>
                <a:spcPts val="0"/>
              </a:spcAft>
              <a:buSzPts val="605"/>
              <a:buNone/>
            </a:pPr>
            <a:endParaRPr sz="1840"/>
          </a:p>
        </p:txBody>
      </p:sp>
      <p:sp>
        <p:nvSpPr>
          <p:cNvPr id="96" name="Google Shape;96;g131c36fdaea_0_5"/>
          <p:cNvSpPr txBox="1"/>
          <p:nvPr/>
        </p:nvSpPr>
        <p:spPr>
          <a:xfrm>
            <a:off x="2319825" y="5980000"/>
            <a:ext cx="6302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0" i="0" u="sng" strike="noStrike" kern="0" cap="none" spc="0" normalizeH="0" baseline="0" noProof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Avenir"/>
                <a:ea typeface="Avenir"/>
                <a:cs typeface="Avenir"/>
                <a:sym typeface="Avenir"/>
                <a:hlinkClick r:id="rId3"/>
              </a:rPr>
              <a:t>https://www.youtube.com/watch?v=tKxcQYZ2YH8&amp;t=168s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"/>
              <a:ea typeface="Avenir"/>
              <a:cs typeface="Avenir"/>
              <a:sym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11507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131c36fdaea_0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350" y="490425"/>
            <a:ext cx="12046648" cy="6367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131c36fdaea_0_12"/>
          <p:cNvSpPr txBox="1"/>
          <p:nvPr/>
        </p:nvSpPr>
        <p:spPr>
          <a:xfrm>
            <a:off x="747500" y="90225"/>
            <a:ext cx="492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sng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Results</a:t>
            </a:r>
            <a:endParaRPr sz="1400" b="1" i="0" u="sng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g131c36fdaea_0_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350" y="490425"/>
            <a:ext cx="12046648" cy="636757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131c36fdaea_0_12"/>
          <p:cNvSpPr txBox="1"/>
          <p:nvPr/>
        </p:nvSpPr>
        <p:spPr>
          <a:xfrm>
            <a:off x="747500" y="90225"/>
            <a:ext cx="492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400" b="1" i="0" u="sng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"/>
                <a:ea typeface="Avenir"/>
                <a:cs typeface="Avenir"/>
                <a:sym typeface="Avenir"/>
              </a:rPr>
              <a:t>Results</a:t>
            </a:r>
            <a:endParaRPr kumimoji="0" sz="1400" b="1" i="0" u="sng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"/>
              <a:ea typeface="Avenir"/>
              <a:cs typeface="Avenir"/>
              <a:sym typeface="Avenir"/>
            </a:endParaRPr>
          </a:p>
        </p:txBody>
      </p:sp>
    </p:spTree>
    <p:extLst>
      <p:ext uri="{BB962C8B-B14F-4D97-AF65-F5344CB8AC3E}">
        <p14:creationId xmlns:p14="http://schemas.microsoft.com/office/powerpoint/2010/main" val="30392863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31c36fdaea_0_21"/>
          <p:cNvSpPr txBox="1">
            <a:spLocks noGrp="1"/>
          </p:cNvSpPr>
          <p:nvPr>
            <p:ph type="title"/>
          </p:nvPr>
        </p:nvSpPr>
        <p:spPr>
          <a:xfrm>
            <a:off x="198100" y="150075"/>
            <a:ext cx="11270100" cy="3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850" b="1" u="sng">
                <a:solidFill>
                  <a:srgbClr val="FF0000"/>
                </a:solidFill>
              </a:rPr>
              <a:t>Risk assessmen</a:t>
            </a:r>
            <a:r>
              <a:rPr lang="en-US" sz="2850">
                <a:solidFill>
                  <a:srgbClr val="FF0000"/>
                </a:solidFill>
              </a:rPr>
              <a:t>t</a:t>
            </a:r>
            <a:endParaRPr sz="2850">
              <a:solidFill>
                <a:srgbClr val="FF0000"/>
              </a:solidFill>
            </a:endParaRPr>
          </a:p>
        </p:txBody>
      </p:sp>
      <p:sp>
        <p:nvSpPr>
          <p:cNvPr id="102" name="Google Shape;102;g131c36fdaea_0_21"/>
          <p:cNvSpPr txBox="1">
            <a:spLocks noGrp="1"/>
          </p:cNvSpPr>
          <p:nvPr>
            <p:ph type="body" idx="1"/>
          </p:nvPr>
        </p:nvSpPr>
        <p:spPr>
          <a:xfrm>
            <a:off x="358425" y="704925"/>
            <a:ext cx="10995300" cy="54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735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rgbClr val="FF0000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Wear goggles at all times.</a:t>
            </a:r>
            <a:endParaRPr sz="25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Dilute hydrochloric acid and Sodium Hydroxide are corrosive and be very damaging to the eyes -</a:t>
            </a:r>
            <a:r>
              <a:rPr lang="en-US" sz="2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If contact occurs inform the teacher immediately</a:t>
            </a:r>
            <a:endParaRPr sz="2500">
              <a:solidFill>
                <a:srgbClr val="FF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Tie long hair back</a:t>
            </a:r>
            <a:endParaRPr sz="25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873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00"/>
              <a:buFont typeface="Arial"/>
              <a:buChar char="•"/>
            </a:pPr>
            <a:r>
              <a:rPr lang="en-US" sz="2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Ensure stools/chairs are tucked in and the working area is clear from bags, </a:t>
            </a:r>
            <a:endParaRPr sz="25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endParaRPr sz="25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2400"/>
              </a:spcBef>
              <a:spcAft>
                <a:spcPts val="3600"/>
              </a:spcAft>
              <a:buSzPts val="1800"/>
              <a:buNone/>
            </a:pPr>
            <a:endParaRPr sz="2000">
              <a:solidFill>
                <a:srgbClr val="FF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31c36fdaea_0_33"/>
          <p:cNvSpPr txBox="1">
            <a:spLocks noGrp="1"/>
          </p:cNvSpPr>
          <p:nvPr>
            <p:ph type="body" idx="1"/>
          </p:nvPr>
        </p:nvSpPr>
        <p:spPr>
          <a:xfrm>
            <a:off x="251275" y="205300"/>
            <a:ext cx="11940600" cy="6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Hypothesis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Independent variable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Dependent variable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Control variable</a:t>
            </a:r>
            <a:endParaRPr sz="24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08" name="Google Shape;108;g131c36fdaea_0_33"/>
          <p:cNvSpPr txBox="1"/>
          <p:nvPr/>
        </p:nvSpPr>
        <p:spPr>
          <a:xfrm>
            <a:off x="328525" y="893875"/>
            <a:ext cx="9466800" cy="24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I predict that the temperature will go up when we mix acid with alkali</a:t>
            </a:r>
            <a:endParaRPr sz="2800" b="0" i="0" u="none" strike="noStrike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09" name="Google Shape;109;g131c36fdaea_0_33"/>
          <p:cNvSpPr txBox="1"/>
          <p:nvPr/>
        </p:nvSpPr>
        <p:spPr>
          <a:xfrm>
            <a:off x="328525" y="2625725"/>
            <a:ext cx="53340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Volume of alkali</a:t>
            </a:r>
            <a:endParaRPr sz="2300" b="0" i="0" u="none" strike="noStrike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0" name="Google Shape;110;g131c36fdaea_0_33"/>
          <p:cNvSpPr txBox="1"/>
          <p:nvPr/>
        </p:nvSpPr>
        <p:spPr>
          <a:xfrm>
            <a:off x="328525" y="3773125"/>
            <a:ext cx="4756500" cy="9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Temperature </a:t>
            </a:r>
            <a:endParaRPr sz="2500" b="0" i="0" u="none" strike="noStrike" cap="non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accent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11" name="Google Shape;111;g131c36fdaea_0_33"/>
          <p:cNvSpPr txBox="1"/>
          <p:nvPr/>
        </p:nvSpPr>
        <p:spPr>
          <a:xfrm>
            <a:off x="328525" y="5063625"/>
            <a:ext cx="4104900" cy="9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chemeClr val="accent6"/>
                </a:solidFill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Polystyrene cups</a:t>
            </a:r>
            <a:endParaRPr sz="2600" b="0" i="0" u="none" strike="noStrike" cap="none">
              <a:solidFill>
                <a:schemeClr val="accent6"/>
              </a:solidFill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chemeClr val="accent6"/>
              </a:solidFill>
              <a:highlight>
                <a:schemeClr val="lt1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Font typeface="Avenir"/>
              <a:buNone/>
            </a:pPr>
            <a:r>
              <a:rPr lang="en-US"/>
              <a:t>Results</a:t>
            </a:r>
            <a:endParaRPr/>
          </a:p>
        </p:txBody>
      </p:sp>
      <p:sp>
        <p:nvSpPr>
          <p:cNvPr id="123" name="Google Shape;12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SzPts val="1800"/>
              <a:buNone/>
            </a:pPr>
            <a:endParaRPr sz="2200">
              <a:solidFill>
                <a:srgbClr val="44444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3600"/>
              </a:spcBef>
              <a:spcAft>
                <a:spcPts val="0"/>
              </a:spcAft>
              <a:buClr>
                <a:srgbClr val="57595A"/>
              </a:buClr>
              <a:buSzPts val="2800"/>
              <a:buNone/>
            </a:pP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425300" y="1675425"/>
            <a:ext cx="113673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en-US" sz="3300" b="0" i="0" u="none" strike="noStrike" cap="none">
                <a:solidFill>
                  <a:srgbClr val="000000"/>
                </a:solidFill>
                <a:latin typeface="Avenir"/>
                <a:ea typeface="Avenir"/>
                <a:cs typeface="Avenir"/>
                <a:sym typeface="Avenir"/>
              </a:rPr>
              <a:t>Draw a graph of your results with the volume of sodium hydroxide solution(the independent variable) on the x-axis and the temperature change (the dependent variable) on the y-axis.</a:t>
            </a:r>
            <a:endParaRPr sz="33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131c36fdaea_0_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62000" y="0"/>
            <a:ext cx="8522574" cy="6742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496000" y="0"/>
            <a:ext cx="10515600" cy="7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Font typeface="Avenir"/>
              <a:buNone/>
            </a:pPr>
            <a:r>
              <a:rPr lang="en-US"/>
              <a:t>Evaluation</a:t>
            </a:r>
            <a:endParaRPr/>
          </a:p>
        </p:txBody>
      </p:sp>
      <p:sp>
        <p:nvSpPr>
          <p:cNvPr id="135" name="Google Shape;135;p8"/>
          <p:cNvSpPr txBox="1">
            <a:spLocks noGrp="1"/>
          </p:cNvSpPr>
          <p:nvPr>
            <p:ph type="body" idx="1"/>
          </p:nvPr>
        </p:nvSpPr>
        <p:spPr>
          <a:xfrm>
            <a:off x="345400" y="949550"/>
            <a:ext cx="118467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US"/>
              <a:t>What volume of hydrochloric acid and sodium hydroxide produce the largest temperature change.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595A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595A"/>
              </a:buClr>
              <a:buSzPts val="2800"/>
              <a:buNone/>
            </a:pP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US"/>
              <a:t>Why does the temperature fall towards the end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7595A"/>
              </a:buClr>
              <a:buSzPts val="2800"/>
              <a:buNone/>
            </a:pPr>
            <a:endParaRPr/>
          </a:p>
        </p:txBody>
      </p:sp>
      <p:sp>
        <p:nvSpPr>
          <p:cNvPr id="136" name="Google Shape;136;p8"/>
          <p:cNvSpPr txBox="1"/>
          <p:nvPr/>
        </p:nvSpPr>
        <p:spPr>
          <a:xfrm>
            <a:off x="1366125" y="3789050"/>
            <a:ext cx="9846300" cy="13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No reaction is taking place,the acid is used up and the sodium hydroxide is in excess.</a:t>
            </a:r>
            <a:endParaRPr sz="2500" b="0" i="0" u="none" strike="noStrike" cap="none">
              <a:solidFill>
                <a:schemeClr val="accent6"/>
              </a:solidFill>
              <a:latin typeface="Avenir"/>
              <a:ea typeface="Avenir"/>
              <a:cs typeface="Avenir"/>
              <a:sym typeface="Avenir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chemeClr val="accent6"/>
                </a:solidFill>
                <a:latin typeface="Avenir"/>
                <a:ea typeface="Avenir"/>
                <a:cs typeface="Avenir"/>
                <a:sym typeface="Avenir"/>
              </a:rPr>
              <a:t>This excess of sodium hydroxide lowers the temperature.</a:t>
            </a:r>
            <a:endParaRPr sz="2500" b="0" i="0" u="none" strike="noStrike" cap="none">
              <a:solidFill>
                <a:schemeClr val="accent6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QES 3">
      <a:dk1>
        <a:srgbClr val="B1B2B3"/>
      </a:dk1>
      <a:lt1>
        <a:srgbClr val="FFFFFF"/>
      </a:lt1>
      <a:dk2>
        <a:srgbClr val="71206A"/>
      </a:dk2>
      <a:lt2>
        <a:srgbClr val="00ADC6"/>
      </a:lt2>
      <a:accent1>
        <a:srgbClr val="1E1248"/>
      </a:accent1>
      <a:accent2>
        <a:srgbClr val="CA9500"/>
      </a:accent2>
      <a:accent3>
        <a:srgbClr val="00658C"/>
      </a:accent3>
      <a:accent4>
        <a:srgbClr val="90208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QES 3">
      <a:dk1>
        <a:srgbClr val="B1B2B3"/>
      </a:dk1>
      <a:lt1>
        <a:srgbClr val="FFFFFF"/>
      </a:lt1>
      <a:dk2>
        <a:srgbClr val="71206A"/>
      </a:dk2>
      <a:lt2>
        <a:srgbClr val="00ADC6"/>
      </a:lt2>
      <a:accent1>
        <a:srgbClr val="1E1248"/>
      </a:accent1>
      <a:accent2>
        <a:srgbClr val="CA9500"/>
      </a:accent2>
      <a:accent3>
        <a:srgbClr val="00658C"/>
      </a:accent3>
      <a:accent4>
        <a:srgbClr val="90208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1478</TotalTime>
  <Words>638</Words>
  <Application>Microsoft Office PowerPoint</Application>
  <PresentationFormat>Widescreen</PresentationFormat>
  <Paragraphs>82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Avenir</vt:lpstr>
      <vt:lpstr>Calibri</vt:lpstr>
      <vt:lpstr>Office Theme</vt:lpstr>
      <vt:lpstr>1_Office Theme</vt:lpstr>
      <vt:lpstr>Copy and answer questions in your books</vt:lpstr>
      <vt:lpstr>PowerPoint Presentation</vt:lpstr>
      <vt:lpstr> </vt:lpstr>
      <vt:lpstr>Learning objectives:</vt:lpstr>
      <vt:lpstr>Do Now- in the front of your book answer the questions below</vt:lpstr>
      <vt:lpstr>Equipment</vt:lpstr>
      <vt:lpstr>Method</vt:lpstr>
      <vt:lpstr>Method</vt:lpstr>
      <vt:lpstr>PowerPoint Presentation</vt:lpstr>
      <vt:lpstr>PowerPoint Presentation</vt:lpstr>
      <vt:lpstr>Risk assessment</vt:lpstr>
      <vt:lpstr>PowerPoint Presentation</vt:lpstr>
      <vt:lpstr>Results</vt:lpstr>
      <vt:lpstr>PowerPoint Presentation</vt:lpstr>
      <vt:lpstr>Evaluation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and answer questions in your books</dc:title>
  <dc:creator>Kim Bowyer</dc:creator>
  <cp:lastModifiedBy>prahman@qesluton.uk</cp:lastModifiedBy>
  <cp:revision>4</cp:revision>
  <cp:lastPrinted>2025-04-29T07:55:49Z</cp:lastPrinted>
  <dcterms:created xsi:type="dcterms:W3CDTF">2021-05-25T11:03:56Z</dcterms:created>
  <dcterms:modified xsi:type="dcterms:W3CDTF">2025-04-29T07:56:01Z</dcterms:modified>
</cp:coreProperties>
</file>