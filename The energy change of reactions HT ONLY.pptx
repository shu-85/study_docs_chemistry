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8" r:id="rId5"/>
    <p:sldId id="1047" r:id="rId6"/>
    <p:sldId id="257" r:id="rId7"/>
    <p:sldId id="259" r:id="rId8"/>
    <p:sldId id="260" r:id="rId9"/>
    <p:sldId id="262" r:id="rId10"/>
    <p:sldId id="275" r:id="rId11"/>
    <p:sldId id="263" r:id="rId12"/>
    <p:sldId id="264" r:id="rId13"/>
    <p:sldId id="266" r:id="rId14"/>
    <p:sldId id="274" r:id="rId15"/>
    <p:sldId id="1105" r:id="rId16"/>
    <p:sldId id="272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E232D-246E-89AF-647A-B4405D8C739D}" v="3" dt="2026-04-19T13:21:02.492"/>
    <p1510:client id="{F7699215-2FB6-434B-7411-0F878990AEF5}" v="252" dt="2026-04-19T13:12:30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8316D-887D-43BD-8F7C-4FD396DB0350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179CE-8F68-48F7-A59A-BE4154B4E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23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2097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177" name="Google Shape;17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9116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15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61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80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9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88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38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39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35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66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23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139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9121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21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C6717-6FE8-4A88-9F75-7F716D172A5D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7A444-2480-400F-8889-7F0B3EB0A0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4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5CDA982-B990-3DD2-84AD-45C3BDEA2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2003"/>
            <a:ext cx="12192000" cy="732852"/>
          </a:xfrm>
          <a:prstGeom prst="rect">
            <a:avLst/>
          </a:prstGeom>
        </p:spPr>
      </p:pic>
      <p:sp>
        <p:nvSpPr>
          <p:cNvPr id="32" name="Rectangle: Rounded Corners 31"/>
          <p:cNvSpPr/>
          <p:nvPr/>
        </p:nvSpPr>
        <p:spPr>
          <a:xfrm>
            <a:off x="2999288" y="1675307"/>
            <a:ext cx="6736383" cy="4994434"/>
          </a:xfrm>
          <a:prstGeom prst="roundRect">
            <a:avLst>
              <a:gd name="adj" fmla="val 421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"/>
            <a:ext cx="12192000" cy="1403717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GB" sz="3600" u="sng"/>
              <a:t>The Energy Change of Reactions &amp; bonds</a:t>
            </a:r>
            <a:br>
              <a:rPr lang="en-GB" sz="3600">
                <a:ea typeface="Calibri Light"/>
                <a:cs typeface="Calibri Light"/>
              </a:rPr>
            </a:br>
            <a:r>
              <a:rPr lang="en-GB" sz="3600" u="sng">
                <a:ea typeface="Calibri Light"/>
                <a:cs typeface="Calibri Light"/>
              </a:rPr>
              <a:t>Tuesday 21st April 2026</a:t>
            </a:r>
            <a:br>
              <a:rPr lang="en-GB" sz="3600"/>
            </a:br>
            <a:endParaRPr lang="en-GB" sz="360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48045"/>
            <a:ext cx="4290119" cy="458234"/>
          </a:xfr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/>
              <a:t> Unscramble the keywords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222052"/>
              </p:ext>
            </p:extLst>
          </p:nvPr>
        </p:nvGraphicFramePr>
        <p:xfrm>
          <a:off x="3260057" y="1913236"/>
          <a:ext cx="303316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3166">
                  <a:extLst>
                    <a:ext uri="{9D8B030D-6E8A-4147-A177-3AD203B41FA5}">
                      <a16:colId xmlns:a16="http://schemas.microsoft.com/office/drawing/2014/main" val="589684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0" err="1">
                          <a:solidFill>
                            <a:schemeClr val="tx1"/>
                          </a:solidFill>
                        </a:rPr>
                        <a:t>mitexcehro</a:t>
                      </a:r>
                      <a:endParaRPr lang="en-GB" sz="2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22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emnihrcdote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53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vtacnatiio</a:t>
                      </a:r>
                      <a:r>
                        <a:rPr lang="en-GB" sz="2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rgenye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561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threalm</a:t>
                      </a:r>
                      <a:r>
                        <a:rPr lang="en-GB" sz="2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egyenr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3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rfdantrrese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55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rgssinnodruu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29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kanet</a:t>
                      </a:r>
                      <a:r>
                        <a:rPr lang="en-GB" sz="2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ni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7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mreupetetar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36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ereicnas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09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err="1">
                          <a:solidFill>
                            <a:schemeClr val="tx1"/>
                          </a:solidFill>
                        </a:rPr>
                        <a:t>eaecsdre</a:t>
                      </a:r>
                      <a:endParaRPr 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5817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81712" y="1913236"/>
            <a:ext cx="162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Exothermic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1711" y="2374901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Endothermic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1711" y="2832894"/>
            <a:ext cx="2427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Activation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1711" y="3290887"/>
            <a:ext cx="2186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Thermal energy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1711" y="3737571"/>
            <a:ext cx="1713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Transferred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1711" y="4180583"/>
            <a:ext cx="194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Surroundings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1710" y="4642248"/>
            <a:ext cx="1303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Taken in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1709" y="5103913"/>
            <a:ext cx="1821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Temperature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1708" y="5563506"/>
            <a:ext cx="1252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Increase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1708" y="5993609"/>
            <a:ext cx="1354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rgbClr val="7030A0"/>
                </a:solidFill>
              </a:rPr>
              <a:t>Decrease</a:t>
            </a:r>
          </a:p>
        </p:txBody>
      </p:sp>
    </p:spTree>
    <p:extLst>
      <p:ext uri="{BB962C8B-B14F-4D97-AF65-F5344CB8AC3E}">
        <p14:creationId xmlns:p14="http://schemas.microsoft.com/office/powerpoint/2010/main" val="108555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E08669D-28A9-47C9-9EB6-FC7905325D3B}"/>
              </a:ext>
            </a:extLst>
          </p:cNvPr>
          <p:cNvSpPr/>
          <p:nvPr/>
        </p:nvSpPr>
        <p:spPr>
          <a:xfrm>
            <a:off x="-1" y="1291625"/>
            <a:ext cx="12191999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GB" sz="2400" b="1">
                <a:latin typeface="Calibri" panose="020F0502020204030204" pitchFamily="34" charset="0"/>
                <a:ea typeface="Times New Roman" panose="02020603050405020304" pitchFamily="18" charset="0"/>
              </a:rPr>
              <a:t>Describe </a:t>
            </a:r>
            <a:r>
              <a:rPr lang="en-GB" sz="2400">
                <a:latin typeface="Calibri" panose="020F0502020204030204" pitchFamily="34" charset="0"/>
                <a:ea typeface="Times New Roman" panose="02020603050405020304" pitchFamily="18" charset="0"/>
              </a:rPr>
              <a:t>the </a:t>
            </a:r>
            <a:r>
              <a:rPr lang="en-GB" sz="2400" b="1">
                <a:latin typeface="Calibri" panose="020F0502020204030204" pitchFamily="34" charset="0"/>
                <a:ea typeface="Times New Roman" panose="02020603050405020304" pitchFamily="18" charset="0"/>
              </a:rPr>
              <a:t>energy changes</a:t>
            </a:r>
            <a:r>
              <a:rPr lang="en-GB" sz="2400">
                <a:latin typeface="Calibri" panose="020F0502020204030204" pitchFamily="34" charset="0"/>
                <a:ea typeface="Times New Roman" panose="02020603050405020304" pitchFamily="18" charset="0"/>
              </a:rPr>
              <a:t> in </a:t>
            </a:r>
            <a:r>
              <a:rPr lang="en-GB" sz="2400" b="1">
                <a:latin typeface="Calibri" panose="020F0502020204030204" pitchFamily="34" charset="0"/>
                <a:ea typeface="Times New Roman" panose="02020603050405020304" pitchFamily="18" charset="0"/>
              </a:rPr>
              <a:t>bond breaking </a:t>
            </a:r>
            <a:r>
              <a:rPr lang="en-GB" sz="2400">
                <a:latin typeface="Calibri" panose="020F0502020204030204" pitchFamily="34" charset="0"/>
                <a:ea typeface="Times New Roman" panose="02020603050405020304" pitchFamily="18" charset="0"/>
              </a:rPr>
              <a:t>and </a:t>
            </a:r>
            <a:r>
              <a:rPr lang="en-GB" sz="2400" b="1">
                <a:latin typeface="Calibri" panose="020F0502020204030204" pitchFamily="34" charset="0"/>
                <a:ea typeface="Times New Roman" panose="02020603050405020304" pitchFamily="18" charset="0"/>
              </a:rPr>
              <a:t>bond making.</a:t>
            </a:r>
          </a:p>
          <a:p>
            <a:pPr lvl="0"/>
            <a:endParaRPr lang="en-GB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Explain how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reaction 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endothermic or exothermic 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overall.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endParaRPr lang="en-GB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Calculate 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energy transferred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chemical reactions 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GB" sz="2400" b="1">
                <a:latin typeface="Calibri" panose="020F0502020204030204" pitchFamily="34" charset="0"/>
                <a:cs typeface="Calibri" panose="020F0502020204030204" pitchFamily="34" charset="0"/>
              </a:rPr>
              <a:t>bond energies.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ECC153-248E-4BB3-BC0F-6C190563178F}"/>
              </a:ext>
            </a:extLst>
          </p:cNvPr>
          <p:cNvSpPr/>
          <p:nvPr/>
        </p:nvSpPr>
        <p:spPr>
          <a:xfrm>
            <a:off x="0" y="740412"/>
            <a:ext cx="12191999" cy="523220"/>
          </a:xfrm>
          <a:prstGeom prst="rect">
            <a:avLst/>
          </a:prstGeom>
          <a:solidFill>
            <a:srgbClr val="FFF6E7"/>
          </a:solidFill>
          <a:ln w="1270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en-GB" sz="2800" b="1" i="1">
                <a:latin typeface="Calibri" panose="020F0502020204030204" pitchFamily="34" charset="0"/>
                <a:ea typeface="Open Sans"/>
                <a:cs typeface="Calibri" pitchFamily="34" charset="0"/>
                <a:sym typeface="Open Sans"/>
              </a:rPr>
              <a:t>Learning objectives:</a:t>
            </a:r>
          </a:p>
        </p:txBody>
      </p:sp>
      <p:sp>
        <p:nvSpPr>
          <p:cNvPr id="9" name="Google Shape;44;p3">
            <a:extLst>
              <a:ext uri="{FF2B5EF4-FFF2-40B4-BE49-F238E27FC236}">
                <a16:creationId xmlns:a16="http://schemas.microsoft.com/office/drawing/2014/main" id="{22978D8B-A1BA-4E40-B1DC-333711A03F5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404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4800" b="1">
                <a:solidFill>
                  <a:srgbClr val="000000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Energy changes of reactions</a:t>
            </a:r>
          </a:p>
        </p:txBody>
      </p:sp>
    </p:spTree>
    <p:extLst>
      <p:ext uri="{BB962C8B-B14F-4D97-AF65-F5344CB8AC3E}">
        <p14:creationId xmlns:p14="http://schemas.microsoft.com/office/powerpoint/2010/main" val="71549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82848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/>
              <a:t>The Energy Change of Reactions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215" y="1616676"/>
            <a:ext cx="2502376" cy="458234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GB" b="1"/>
              <a:t>Think about WHY: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06607" y="2743198"/>
            <a:ext cx="3981635" cy="3263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chemeClr val="tx1"/>
                </a:solidFill>
              </a:rPr>
              <a:t>Why</a:t>
            </a:r>
            <a:r>
              <a:rPr lang="en-GB" sz="2800">
                <a:solidFill>
                  <a:schemeClr val="tx1"/>
                </a:solidFill>
              </a:rPr>
              <a:t> do endothermic reactions </a:t>
            </a:r>
            <a:r>
              <a:rPr lang="en-GB" sz="2800" b="1">
                <a:solidFill>
                  <a:srgbClr val="0070C0"/>
                </a:solidFill>
              </a:rPr>
              <a:t>take in </a:t>
            </a:r>
            <a:r>
              <a:rPr lang="en-GB" sz="2800">
                <a:solidFill>
                  <a:schemeClr val="tx1"/>
                </a:solidFill>
              </a:rPr>
              <a:t>heat energy from the surroundings?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651403" y="2743197"/>
            <a:ext cx="3981635" cy="3263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solidFill>
                  <a:schemeClr val="tx1"/>
                </a:solidFill>
              </a:rPr>
              <a:t>Why</a:t>
            </a:r>
            <a:r>
              <a:rPr lang="en-GB" sz="2800">
                <a:solidFill>
                  <a:schemeClr val="tx1"/>
                </a:solidFill>
              </a:rPr>
              <a:t> do exothermic reactions </a:t>
            </a:r>
            <a:r>
              <a:rPr lang="en-GB" sz="2800" b="1">
                <a:solidFill>
                  <a:srgbClr val="FF0000"/>
                </a:solidFill>
              </a:rPr>
              <a:t>release</a:t>
            </a:r>
            <a:r>
              <a:rPr lang="en-GB" sz="2800">
                <a:solidFill>
                  <a:schemeClr val="tx1"/>
                </a:solidFill>
              </a:rPr>
              <a:t> heat energy into the surroundings?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405317" y="2285997"/>
            <a:ext cx="5629012" cy="914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>
                <a:solidFill>
                  <a:schemeClr val="tx1"/>
                </a:solidFill>
              </a:rPr>
              <a:t>+ BOND BREAKING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9561903">
            <a:off x="2709458" y="1637560"/>
            <a:ext cx="1685137" cy="17540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9561903">
            <a:off x="8326742" y="1598149"/>
            <a:ext cx="1685137" cy="1754074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2902591" y="3633915"/>
            <a:ext cx="6596411" cy="1938546"/>
            <a:chOff x="2902591" y="3633915"/>
            <a:chExt cx="6596411" cy="1938546"/>
          </a:xfrm>
        </p:grpSpPr>
        <p:sp>
          <p:nvSpPr>
            <p:cNvPr id="9" name="Rectangle 8"/>
            <p:cNvSpPr/>
            <p:nvPr/>
          </p:nvSpPr>
          <p:spPr>
            <a:xfrm>
              <a:off x="3405317" y="4146255"/>
              <a:ext cx="5629012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5400">
                  <a:solidFill>
                    <a:schemeClr val="tx1"/>
                  </a:solidFill>
                </a:rPr>
                <a:t>- BOND MAKING</a:t>
              </a:r>
            </a:p>
          </p:txBody>
        </p:sp>
        <p:cxnSp>
          <p:nvCxnSpPr>
            <p:cNvPr id="14" name="Straight Arrow Connector 13"/>
            <p:cNvCxnSpPr>
              <a:stCxn id="9" idx="2"/>
            </p:cNvCxnSpPr>
            <p:nvPr/>
          </p:nvCxnSpPr>
          <p:spPr>
            <a:xfrm>
              <a:off x="6219823" y="5060655"/>
              <a:ext cx="0" cy="5118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cxnSpLocks/>
            </p:cNvCxnSpPr>
            <p:nvPr/>
          </p:nvCxnSpPr>
          <p:spPr>
            <a:xfrm flipH="1">
              <a:off x="2902591" y="5019019"/>
              <a:ext cx="502726" cy="30561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cxnSpLocks/>
            </p:cNvCxnSpPr>
            <p:nvPr/>
          </p:nvCxnSpPr>
          <p:spPr>
            <a:xfrm flipH="1" flipV="1">
              <a:off x="2979868" y="3815831"/>
              <a:ext cx="425449" cy="34313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rot="10800000">
              <a:off x="6219821" y="3633915"/>
              <a:ext cx="0" cy="5118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cxnSpLocks/>
            </p:cNvCxnSpPr>
            <p:nvPr/>
          </p:nvCxnSpPr>
          <p:spPr>
            <a:xfrm>
              <a:off x="9005752" y="5019019"/>
              <a:ext cx="493250" cy="30561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cxnSpLocks/>
            </p:cNvCxnSpPr>
            <p:nvPr/>
          </p:nvCxnSpPr>
          <p:spPr>
            <a:xfrm flipV="1">
              <a:off x="8977285" y="3737276"/>
              <a:ext cx="482493" cy="41346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cxnSpLocks/>
            </p:cNvCxnSpPr>
            <p:nvPr/>
          </p:nvCxnSpPr>
          <p:spPr>
            <a:xfrm flipH="1" flipV="1">
              <a:off x="4733782" y="3673326"/>
              <a:ext cx="157574" cy="4966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cxnSpLocks/>
            </p:cNvCxnSpPr>
            <p:nvPr/>
          </p:nvCxnSpPr>
          <p:spPr>
            <a:xfrm>
              <a:off x="7567037" y="5019019"/>
              <a:ext cx="265146" cy="4988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cxnSpLocks/>
            </p:cNvCxnSpPr>
            <p:nvPr/>
          </p:nvCxnSpPr>
          <p:spPr>
            <a:xfrm flipV="1">
              <a:off x="7479760" y="3689054"/>
              <a:ext cx="352423" cy="4876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cxnSpLocks/>
            </p:cNvCxnSpPr>
            <p:nvPr/>
          </p:nvCxnSpPr>
          <p:spPr>
            <a:xfrm flipH="1">
              <a:off x="4656505" y="5045445"/>
              <a:ext cx="234851" cy="4241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A494395-DC99-4465-DAF2-F6A99847D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0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  <p:bldP spid="7" grpId="0" animBg="1"/>
      <p:bldP spid="8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82848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/>
              <a:t> 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483547" y="37801"/>
            <a:ext cx="7302421" cy="1793485"/>
            <a:chOff x="2483547" y="37801"/>
            <a:chExt cx="7302421" cy="1793485"/>
          </a:xfrm>
        </p:grpSpPr>
        <p:sp>
          <p:nvSpPr>
            <p:cNvPr id="5" name="Rectangle 4"/>
            <p:cNvSpPr/>
            <p:nvPr/>
          </p:nvSpPr>
          <p:spPr>
            <a:xfrm>
              <a:off x="3179406" y="725649"/>
              <a:ext cx="5629012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5400">
                  <a:solidFill>
                    <a:schemeClr val="tx1"/>
                  </a:solidFill>
                </a:rPr>
                <a:t>+ BOND BREAKING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9561903">
              <a:off x="2483547" y="77212"/>
              <a:ext cx="1685137" cy="1754074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9561903">
              <a:off x="8100831" y="37801"/>
              <a:ext cx="1685137" cy="1754074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1258645" y="2110746"/>
            <a:ext cx="991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It takes energy to break bonds, so bond breaking is an </a:t>
            </a:r>
            <a:r>
              <a:rPr lang="en-GB" sz="2400" b="1">
                <a:solidFill>
                  <a:schemeClr val="accent1"/>
                </a:solidFill>
              </a:rPr>
              <a:t>endothermic +</a:t>
            </a:r>
            <a:r>
              <a:rPr lang="en-GB" sz="2400"/>
              <a:t> process: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3376" y="406285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/>
              <a:t>C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3179406" y="4079823"/>
            <a:ext cx="1164884" cy="769441"/>
            <a:chOff x="2962530" y="3236415"/>
            <a:chExt cx="1164884" cy="769441"/>
          </a:xfrm>
        </p:grpSpPr>
        <p:cxnSp>
          <p:nvCxnSpPr>
            <p:cNvPr id="58" name="Straight Connector 57"/>
            <p:cNvCxnSpPr/>
            <p:nvPr/>
          </p:nvCxnSpPr>
          <p:spPr>
            <a:xfrm rot="5400000" flipV="1">
              <a:off x="3248280" y="3335386"/>
              <a:ext cx="0" cy="5715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3591690" y="3236415"/>
              <a:ext cx="53572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/>
                <a:t>H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579064" y="4079823"/>
            <a:ext cx="1114312" cy="769441"/>
            <a:chOff x="1362188" y="3236415"/>
            <a:chExt cx="1114312" cy="769441"/>
          </a:xfrm>
        </p:grpSpPr>
        <p:cxnSp>
          <p:nvCxnSpPr>
            <p:cNvPr id="61" name="Straight Connector 60"/>
            <p:cNvCxnSpPr/>
            <p:nvPr/>
          </p:nvCxnSpPr>
          <p:spPr>
            <a:xfrm rot="5400000" flipV="1">
              <a:off x="2190750" y="3335386"/>
              <a:ext cx="0" cy="5715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362188" y="3236415"/>
              <a:ext cx="53572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/>
                <a:t>H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2693376" y="2878037"/>
            <a:ext cx="535724" cy="1261021"/>
            <a:chOff x="2476500" y="2034629"/>
            <a:chExt cx="535724" cy="1261021"/>
          </a:xfrm>
        </p:grpSpPr>
        <p:cxnSp>
          <p:nvCxnSpPr>
            <p:cNvPr id="64" name="Straight Connector 63"/>
            <p:cNvCxnSpPr/>
            <p:nvPr/>
          </p:nvCxnSpPr>
          <p:spPr>
            <a:xfrm flipV="1">
              <a:off x="2719515" y="2724150"/>
              <a:ext cx="0" cy="5715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2476500" y="2034629"/>
              <a:ext cx="53572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/>
                <a:t>H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2693376" y="4775149"/>
            <a:ext cx="535724" cy="1288778"/>
            <a:chOff x="2476500" y="3931741"/>
            <a:chExt cx="535724" cy="1288778"/>
          </a:xfrm>
        </p:grpSpPr>
        <p:cxnSp>
          <p:nvCxnSpPr>
            <p:cNvPr id="67" name="Straight Connector 66"/>
            <p:cNvCxnSpPr/>
            <p:nvPr/>
          </p:nvCxnSpPr>
          <p:spPr>
            <a:xfrm flipV="1">
              <a:off x="2714880" y="3931741"/>
              <a:ext cx="0" cy="5715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2476500" y="4451078"/>
              <a:ext cx="53572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/>
                <a:t>H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712309" y="3810913"/>
            <a:ext cx="5170454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2400"/>
              <a:t>Endothermic processes use the </a:t>
            </a:r>
            <a:r>
              <a:rPr lang="en-GB" sz="2400" b="1"/>
              <a:t>+</a:t>
            </a:r>
            <a:r>
              <a:rPr lang="en-GB" sz="2400"/>
              <a:t> sign</a:t>
            </a:r>
          </a:p>
          <a:p>
            <a:r>
              <a:rPr lang="en-GB" sz="2400"/>
              <a:t>as energy has to be put into the system!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F9F5C-35DC-0456-4038-525356B1B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4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5586 -0.061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6" y="-307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07407E-6 L 0.03894 0.053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26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22222E-6 L -0.03229 0.0435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5" y="217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07407E-6 L -0.02513 -0.0641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3" y="-321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82848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/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72" y="2446051"/>
            <a:ext cx="11460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Energy is released when new bonds are made, so bond making is an </a:t>
            </a:r>
            <a:r>
              <a:rPr lang="en-GB" sz="2400" b="1">
                <a:solidFill>
                  <a:srgbClr val="FF0000"/>
                </a:solidFill>
              </a:rPr>
              <a:t>exothermic -</a:t>
            </a:r>
            <a:r>
              <a:rPr lang="en-GB" sz="2400"/>
              <a:t> process: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93493" y="172200"/>
            <a:ext cx="6596411" cy="1938546"/>
            <a:chOff x="2902591" y="3633915"/>
            <a:chExt cx="6596411" cy="1938546"/>
          </a:xfrm>
        </p:grpSpPr>
        <p:sp>
          <p:nvSpPr>
            <p:cNvPr id="8" name="Rectangle 7"/>
            <p:cNvSpPr/>
            <p:nvPr/>
          </p:nvSpPr>
          <p:spPr>
            <a:xfrm>
              <a:off x="3405317" y="4146255"/>
              <a:ext cx="5629012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5400">
                  <a:solidFill>
                    <a:schemeClr val="tx1"/>
                  </a:solidFill>
                </a:rPr>
                <a:t>- BOND MAKING</a:t>
              </a:r>
            </a:p>
          </p:txBody>
        </p:sp>
        <p:cxnSp>
          <p:nvCxnSpPr>
            <p:cNvPr id="9" name="Straight Arrow Connector 8"/>
            <p:cNvCxnSpPr>
              <a:stCxn id="8" idx="2"/>
            </p:cNvCxnSpPr>
            <p:nvPr/>
          </p:nvCxnSpPr>
          <p:spPr>
            <a:xfrm>
              <a:off x="6219823" y="5060655"/>
              <a:ext cx="0" cy="5118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cxnSpLocks/>
            </p:cNvCxnSpPr>
            <p:nvPr/>
          </p:nvCxnSpPr>
          <p:spPr>
            <a:xfrm flipH="1">
              <a:off x="2902591" y="5019019"/>
              <a:ext cx="502726" cy="30561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cxnSpLocks/>
            </p:cNvCxnSpPr>
            <p:nvPr/>
          </p:nvCxnSpPr>
          <p:spPr>
            <a:xfrm flipH="1" flipV="1">
              <a:off x="2979868" y="3815831"/>
              <a:ext cx="425449" cy="34313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cxnSpLocks/>
            </p:cNvCxnSpPr>
            <p:nvPr/>
          </p:nvCxnSpPr>
          <p:spPr>
            <a:xfrm rot="10800000">
              <a:off x="6219821" y="3633915"/>
              <a:ext cx="0" cy="5118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cxnSpLocks/>
            </p:cNvCxnSpPr>
            <p:nvPr/>
          </p:nvCxnSpPr>
          <p:spPr>
            <a:xfrm>
              <a:off x="9005752" y="5019019"/>
              <a:ext cx="493250" cy="30561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cxnSpLocks/>
            </p:cNvCxnSpPr>
            <p:nvPr/>
          </p:nvCxnSpPr>
          <p:spPr>
            <a:xfrm flipV="1">
              <a:off x="8977285" y="3737276"/>
              <a:ext cx="482493" cy="41346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/>
            </p:cNvCxnSpPr>
            <p:nvPr/>
          </p:nvCxnSpPr>
          <p:spPr>
            <a:xfrm flipH="1" flipV="1">
              <a:off x="4733782" y="3673326"/>
              <a:ext cx="157574" cy="4966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>
              <a:off x="7567037" y="5019019"/>
              <a:ext cx="265146" cy="4988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 flipV="1">
              <a:off x="7479760" y="3689054"/>
              <a:ext cx="352423" cy="4876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H="1">
              <a:off x="4656505" y="5045445"/>
              <a:ext cx="234851" cy="4241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605156" y="4170920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/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5703" y="4170918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/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4397" y="4170919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/>
              <a:t>O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5400000" flipV="1">
            <a:off x="3371179" y="4210130"/>
            <a:ext cx="0" cy="571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 flipV="1">
            <a:off x="3371179" y="4349485"/>
            <a:ext cx="0" cy="571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 flipV="1">
            <a:off x="2340672" y="4199497"/>
            <a:ext cx="0" cy="571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 flipV="1">
            <a:off x="2340672" y="4338852"/>
            <a:ext cx="0" cy="571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12309" y="3810913"/>
            <a:ext cx="4867423" cy="120032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GB" sz="2400"/>
              <a:t>Exothermic processes use the </a:t>
            </a:r>
            <a:r>
              <a:rPr lang="en-GB" sz="2400" b="1"/>
              <a:t>-</a:t>
            </a:r>
            <a:r>
              <a:rPr lang="en-GB" sz="2400"/>
              <a:t> sign</a:t>
            </a:r>
          </a:p>
          <a:p>
            <a:r>
              <a:rPr lang="en-GB" sz="2400"/>
              <a:t>as energy is released from the system</a:t>
            </a:r>
            <a:br>
              <a:rPr lang="en-GB" sz="2400"/>
            </a:br>
            <a:r>
              <a:rPr lang="en-GB" sz="2400"/>
              <a:t>and transferred to the surroundings.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A9984-4781-EC0F-7AB6-9BC3CB94B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8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54955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GB"/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85" y="20603"/>
            <a:ext cx="5548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/>
              <a:t>We can use the difference between: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570733" y="988703"/>
            <a:ext cx="3606100" cy="3659345"/>
            <a:chOff x="1570733" y="988703"/>
            <a:chExt cx="3606100" cy="365934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0733" y="1157238"/>
              <a:ext cx="3606100" cy="1101330"/>
            </a:xfrm>
            <a:prstGeom prst="rect">
              <a:avLst/>
            </a:prstGeom>
          </p:spPr>
        </p:pic>
        <p:sp>
          <p:nvSpPr>
            <p:cNvPr id="5" name="Arrow: Down 4"/>
            <p:cNvSpPr/>
            <p:nvPr/>
          </p:nvSpPr>
          <p:spPr>
            <a:xfrm rot="10800000">
              <a:off x="2907927" y="2120001"/>
              <a:ext cx="931711" cy="252804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30836" y="988703"/>
              <a:ext cx="2085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chemeClr val="accent5">
                      <a:lumMod val="75000"/>
                    </a:schemeClr>
                  </a:solidFill>
                </a:rPr>
                <a:t>Energy put in during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224767" y="2453000"/>
            <a:ext cx="17424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500" b="1"/>
              <a:t>VS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7245361" y="988703"/>
            <a:ext cx="2861830" cy="3659345"/>
            <a:chOff x="7245361" y="988703"/>
            <a:chExt cx="2861830" cy="365934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5361" y="1348915"/>
              <a:ext cx="2861830" cy="909653"/>
            </a:xfrm>
            <a:prstGeom prst="rect">
              <a:avLst/>
            </a:prstGeom>
          </p:spPr>
        </p:pic>
        <p:sp>
          <p:nvSpPr>
            <p:cNvPr id="31" name="Arrow: Down 30"/>
            <p:cNvSpPr/>
            <p:nvPr/>
          </p:nvSpPr>
          <p:spPr>
            <a:xfrm>
              <a:off x="8178147" y="2258569"/>
              <a:ext cx="931711" cy="2389479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75926" y="988703"/>
              <a:ext cx="2336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solidFill>
                    <a:srgbClr val="FF0000"/>
                  </a:solidFill>
                </a:rPr>
                <a:t>Energy released during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23365" y="5410014"/>
            <a:ext cx="10345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/>
              <a:t>To calculate the overall energy change and see if it is </a:t>
            </a:r>
            <a:r>
              <a:rPr lang="en-GB" sz="2400">
                <a:solidFill>
                  <a:srgbClr val="FF0000"/>
                </a:solidFill>
              </a:rPr>
              <a:t>exothermic</a:t>
            </a:r>
            <a:r>
              <a:rPr lang="en-GB" sz="2400"/>
              <a:t> or </a:t>
            </a:r>
            <a:r>
              <a:rPr lang="en-GB" sz="2400">
                <a:solidFill>
                  <a:schemeClr val="accent1"/>
                </a:solidFill>
              </a:rPr>
              <a:t>endothermic.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4BE92-BD27-BD19-1F7D-622EA6041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4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-171400"/>
            <a:ext cx="8229600" cy="1143000"/>
          </a:xfrm>
        </p:spPr>
        <p:txBody>
          <a:bodyPr/>
          <a:lstStyle/>
          <a:p>
            <a:r>
              <a:rPr lang="en-GB" b="1" u="sng"/>
              <a:t>Bond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11930301" cy="5904656"/>
          </a:xfrm>
        </p:spPr>
        <p:txBody>
          <a:bodyPr>
            <a:normAutofit/>
          </a:bodyPr>
          <a:lstStyle/>
          <a:p>
            <a:r>
              <a:rPr lang="en-GB"/>
              <a:t>Bond energy is measured in kJ/mol.</a:t>
            </a:r>
          </a:p>
          <a:p>
            <a:endParaRPr lang="en-GB"/>
          </a:p>
          <a:p>
            <a:r>
              <a:rPr lang="en-GB"/>
              <a:t>We can use bond energy to calculate energy change (</a:t>
            </a:r>
            <a:r>
              <a:rPr lang="el-GR"/>
              <a:t>Δ</a:t>
            </a:r>
            <a:r>
              <a:rPr lang="en-GB"/>
              <a:t>H) for many reactions</a:t>
            </a:r>
          </a:p>
          <a:p>
            <a:endParaRPr lang="en-GB"/>
          </a:p>
          <a:p>
            <a:r>
              <a:rPr lang="en-US"/>
              <a:t>The energy released when a bond is formed or absorbed when it is broken is called the </a:t>
            </a:r>
            <a:r>
              <a:rPr lang="en-US" b="1">
                <a:solidFill>
                  <a:srgbClr val="7030A0"/>
                </a:solidFill>
              </a:rPr>
              <a:t>bond energy.</a:t>
            </a:r>
          </a:p>
          <a:p>
            <a:pPr>
              <a:buNone/>
            </a:pPr>
            <a:endParaRPr lang="en-US"/>
          </a:p>
          <a:p>
            <a:pPr lvl="1">
              <a:buNone/>
            </a:pPr>
            <a:r>
              <a:rPr lang="en-US"/>
              <a:t>e.g. the </a:t>
            </a:r>
            <a:r>
              <a:rPr lang="en-US">
                <a:solidFill>
                  <a:srgbClr val="0000FF"/>
                </a:solidFill>
              </a:rPr>
              <a:t>C-H</a:t>
            </a:r>
            <a:r>
              <a:rPr lang="en-US"/>
              <a:t> bond in methane has a bond energy of 413 KJ/</a:t>
            </a:r>
            <a:r>
              <a:rPr lang="en-US" err="1"/>
              <a:t>mol</a:t>
            </a:r>
            <a:endParaRPr lang="en-GB"/>
          </a:p>
          <a:p>
            <a:endParaRPr lang="en-GB"/>
          </a:p>
          <a:p>
            <a:pPr marL="0" indent="0" algn="ctr">
              <a:buNone/>
            </a:pPr>
            <a:r>
              <a:rPr lang="en-GB" b="1">
                <a:solidFill>
                  <a:srgbClr val="7030A0"/>
                </a:solidFill>
              </a:rPr>
              <a:t>You will get a table of the most common bond energies in the exam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5DFB5-2C1F-9D22-DEDD-BDC98124C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0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54955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GB"/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85" y="20603"/>
            <a:ext cx="7830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/>
              <a:t>Task - Word Problems: Endothermic or Exothermic?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9219" y="1831744"/>
            <a:ext cx="72255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/>
              <a:t>the energy released from forming new bonds is greater than the energy needed to break existing bonds.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9219" y="3944931"/>
            <a:ext cx="70426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/>
              <a:t>the energy needed to break existing bonds is greater than the energy released from forming new bonds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441" y="1819880"/>
            <a:ext cx="29202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>
                <a:solidFill>
                  <a:srgbClr val="FF0000"/>
                </a:solidFill>
              </a:rPr>
              <a:t>Exothermic: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47" y="3944931"/>
            <a:ext cx="32848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>
                <a:solidFill>
                  <a:schemeClr val="accent1"/>
                </a:solidFill>
              </a:rPr>
              <a:t>Endothermic: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BFA95-3263-7448-6081-1F277CFB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4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54955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GB"/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85" y="20603"/>
            <a:ext cx="11005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/>
              <a:t>Example Calculating Energy Change Calculation – </a:t>
            </a:r>
            <a:r>
              <a:rPr lang="en-GB" sz="2800"/>
              <a:t>Combustion of Methane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2238" y="3240997"/>
            <a:ext cx="576553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400"/>
              <a:t>2. You will be given a table of bond energies: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03175"/>
              </p:ext>
            </p:extLst>
          </p:nvPr>
        </p:nvGraphicFramePr>
        <p:xfrm>
          <a:off x="765869" y="3936203"/>
          <a:ext cx="54182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134">
                  <a:extLst>
                    <a:ext uri="{9D8B030D-6E8A-4147-A177-3AD203B41FA5}">
                      <a16:colId xmlns:a16="http://schemas.microsoft.com/office/drawing/2014/main" val="922953454"/>
                    </a:ext>
                  </a:extLst>
                </a:gridCol>
                <a:gridCol w="2709134">
                  <a:extLst>
                    <a:ext uri="{9D8B030D-6E8A-4147-A177-3AD203B41FA5}">
                      <a16:colId xmlns:a16="http://schemas.microsoft.com/office/drawing/2014/main" val="2811439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Bond energy in kJ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06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C-H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7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O=O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0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C=O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799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12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O-H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93028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37235" y="777364"/>
            <a:ext cx="6519947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400"/>
              <a:t>1. You may be given a balanced reaction equation: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87835" y="1419371"/>
            <a:ext cx="5102294" cy="584775"/>
            <a:chOff x="853931" y="1491942"/>
            <a:chExt cx="5102294" cy="584775"/>
          </a:xfrm>
        </p:grpSpPr>
        <p:sp>
          <p:nvSpPr>
            <p:cNvPr id="4" name="TextBox 3"/>
            <p:cNvSpPr txBox="1"/>
            <p:nvPr/>
          </p:nvSpPr>
          <p:spPr>
            <a:xfrm>
              <a:off x="853931" y="1491942"/>
              <a:ext cx="5102294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3200"/>
                <a:t>CH</a:t>
              </a:r>
              <a:r>
                <a:rPr lang="en-GB" sz="3200" baseline="-25000"/>
                <a:t>4</a:t>
              </a:r>
              <a:r>
                <a:rPr lang="en-GB" sz="3200"/>
                <a:t> + 2 O</a:t>
              </a:r>
              <a:r>
                <a:rPr lang="en-GB" sz="3200" baseline="-25000"/>
                <a:t>2</a:t>
              </a:r>
              <a:r>
                <a:rPr lang="en-GB" sz="3200"/>
                <a:t>             </a:t>
              </a:r>
              <a:r>
                <a:rPr lang="en-GB" sz="3200">
                  <a:sym typeface="Wingdings" panose="05000000000000000000" pitchFamily="2" charset="2"/>
                </a:rPr>
                <a:t>CO</a:t>
              </a:r>
              <a:r>
                <a:rPr lang="en-GB" sz="3200" baseline="-25000">
                  <a:sym typeface="Wingdings" panose="05000000000000000000" pitchFamily="2" charset="2"/>
                </a:rPr>
                <a:t>2</a:t>
              </a:r>
              <a:r>
                <a:rPr lang="en-GB" sz="3200">
                  <a:sym typeface="Wingdings" panose="05000000000000000000" pitchFamily="2" charset="2"/>
                </a:rPr>
                <a:t> + 2 H</a:t>
              </a:r>
              <a:r>
                <a:rPr lang="en-GB" sz="3200" baseline="-25000">
                  <a:sym typeface="Wingdings" panose="05000000000000000000" pitchFamily="2" charset="2"/>
                </a:rPr>
                <a:t>2</a:t>
              </a:r>
              <a:r>
                <a:rPr lang="en-GB" sz="3200">
                  <a:sym typeface="Wingdings" panose="05000000000000000000" pitchFamily="2" charset="2"/>
                </a:rPr>
                <a:t>O</a:t>
              </a:r>
              <a:endParaRPr lang="en-GB" sz="320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2065324" y="1554519"/>
              <a:ext cx="86929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6852620" y="777364"/>
            <a:ext cx="5109883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400"/>
              <a:t>3. You will be given displayed formulae</a:t>
            </a:r>
            <a:br>
              <a:rPr lang="en-GB" sz="2400"/>
            </a:br>
            <a:r>
              <a:rPr lang="en-GB" sz="2400"/>
              <a:t>for the reactants and products.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837" y="279933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C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8195974" y="2414557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8195974" y="3327309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8615308" y="2877686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V="1">
            <a:off x="7768149" y="289148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01596" y="2808105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6488" y="2815533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837" y="1914562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9673" y="3668826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3366" y="2822519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 flipV="1">
            <a:off x="10665837" y="284407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852125" y="2831291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 flipV="1">
            <a:off x="10670567" y="297375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65203" y="4918262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C</a:t>
            </a:r>
          </a:p>
        </p:txBody>
      </p:sp>
      <p:cxnSp>
        <p:nvCxnSpPr>
          <p:cNvPr id="31" name="Straight Connector 30"/>
          <p:cNvCxnSpPr/>
          <p:nvPr/>
        </p:nvCxnSpPr>
        <p:spPr>
          <a:xfrm rot="5400000" flipV="1">
            <a:off x="8597674" y="493981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83962" y="4927034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33" name="Straight Connector 32"/>
          <p:cNvCxnSpPr/>
          <p:nvPr/>
        </p:nvCxnSpPr>
        <p:spPr>
          <a:xfrm rot="5400000" flipV="1">
            <a:off x="8602404" y="506949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 flipV="1">
            <a:off x="7745785" y="493981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 flipV="1">
            <a:off x="7750515" y="506949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08132" y="4921682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9792" y="4991795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38" name="Straight Connector 37"/>
          <p:cNvCxnSpPr/>
          <p:nvPr/>
        </p:nvCxnSpPr>
        <p:spPr>
          <a:xfrm rot="7200000" flipV="1">
            <a:off x="10320241" y="489974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3600000" flipV="1">
            <a:off x="11055650" y="4890131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07156" y="4669445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8704" y="4669444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1FB9F-B3EF-5F15-3545-963DA620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8" y="6009065"/>
            <a:ext cx="12189430" cy="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4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 animBg="1"/>
      <p:bldP spid="15" grpId="0"/>
      <p:bldP spid="22" grpId="0"/>
      <p:bldP spid="23" grpId="0"/>
      <p:bldP spid="24" grpId="0"/>
      <p:bldP spid="25" grpId="0"/>
      <p:bldP spid="26" grpId="0"/>
      <p:bldP spid="28" grpId="0"/>
      <p:bldP spid="30" grpId="0"/>
      <p:bldP spid="32" grpId="0"/>
      <p:bldP spid="36" grpId="0"/>
      <p:bldP spid="37" grpId="0"/>
      <p:bldP spid="40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97305"/>
              </p:ext>
            </p:extLst>
          </p:nvPr>
        </p:nvGraphicFramePr>
        <p:xfrm>
          <a:off x="9584443" y="161004"/>
          <a:ext cx="241839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173">
                  <a:extLst>
                    <a:ext uri="{9D8B030D-6E8A-4147-A177-3AD203B41FA5}">
                      <a16:colId xmlns:a16="http://schemas.microsoft.com/office/drawing/2014/main" val="922953454"/>
                    </a:ext>
                  </a:extLst>
                </a:gridCol>
                <a:gridCol w="1366222">
                  <a:extLst>
                    <a:ext uri="{9D8B030D-6E8A-4147-A177-3AD203B41FA5}">
                      <a16:colId xmlns:a16="http://schemas.microsoft.com/office/drawing/2014/main" val="2811439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</a:rPr>
                        <a:t>Bond energy in kJ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06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C-H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77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O=O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0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C=O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799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12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O-H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463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93028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15982" y="140804"/>
            <a:ext cx="9286202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200"/>
              <a:t>4. Draw a reaction scheme and consider all bonds broken and all bonds formed.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513113" y="796015"/>
            <a:ext cx="6961778" cy="584775"/>
            <a:chOff x="853931" y="1491942"/>
            <a:chExt cx="4586019" cy="584775"/>
          </a:xfrm>
        </p:grpSpPr>
        <p:sp>
          <p:nvSpPr>
            <p:cNvPr id="4" name="TextBox 3"/>
            <p:cNvSpPr txBox="1"/>
            <p:nvPr/>
          </p:nvSpPr>
          <p:spPr>
            <a:xfrm>
              <a:off x="853931" y="1491942"/>
              <a:ext cx="4586019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3200"/>
                <a:t>CH</a:t>
              </a:r>
              <a:r>
                <a:rPr lang="en-GB" sz="3200" baseline="-25000"/>
                <a:t>4</a:t>
              </a:r>
              <a:r>
                <a:rPr lang="en-GB" sz="3200"/>
                <a:t>+ 2 O</a:t>
              </a:r>
              <a:r>
                <a:rPr lang="en-GB" sz="3200" baseline="-25000"/>
                <a:t>2</a:t>
              </a:r>
              <a:r>
                <a:rPr lang="en-GB" sz="3200">
                  <a:sym typeface="Wingdings" panose="05000000000000000000" pitchFamily="2" charset="2"/>
                </a:rPr>
                <a:t>                     CO</a:t>
              </a:r>
              <a:r>
                <a:rPr lang="en-GB" sz="3200" baseline="-25000">
                  <a:sym typeface="Wingdings" panose="05000000000000000000" pitchFamily="2" charset="2"/>
                </a:rPr>
                <a:t>2</a:t>
              </a:r>
              <a:r>
                <a:rPr lang="en-GB" sz="3200">
                  <a:sym typeface="Wingdings" panose="05000000000000000000" pitchFamily="2" charset="2"/>
                </a:rPr>
                <a:t> + 2 H</a:t>
              </a:r>
              <a:r>
                <a:rPr lang="en-GB" sz="3200" baseline="-25000">
                  <a:sym typeface="Wingdings" panose="05000000000000000000" pitchFamily="2" charset="2"/>
                </a:rPr>
                <a:t>2</a:t>
              </a:r>
              <a:r>
                <a:rPr lang="en-GB" sz="3200">
                  <a:sym typeface="Wingdings" panose="05000000000000000000" pitchFamily="2" charset="2"/>
                </a:rPr>
                <a:t>O</a:t>
              </a:r>
              <a:endParaRPr lang="en-GB" sz="320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2322946" y="1783472"/>
              <a:ext cx="86929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904767" y="253825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C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2117904" y="2153474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117904" y="3066226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2537238" y="2616603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V="1">
            <a:off x="1690079" y="263040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23526" y="2547022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418" y="2554450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4767" y="1653479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1603" y="3407743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5175" y="2910065"/>
            <a:ext cx="461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27" name="Straight Connector 26"/>
          <p:cNvCxnSpPr>
            <a:cxnSpLocks/>
          </p:cNvCxnSpPr>
          <p:nvPr/>
        </p:nvCxnSpPr>
        <p:spPr>
          <a:xfrm rot="5400000" flipV="1">
            <a:off x="4517646" y="2931618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03934" y="2918837"/>
            <a:ext cx="461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29" name="Straight Connector 28"/>
          <p:cNvCxnSpPr>
            <a:cxnSpLocks/>
          </p:cNvCxnSpPr>
          <p:nvPr/>
        </p:nvCxnSpPr>
        <p:spPr>
          <a:xfrm rot="5400000" flipV="1">
            <a:off x="4522376" y="3061298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76151" y="2552759"/>
            <a:ext cx="402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C</a:t>
            </a:r>
          </a:p>
        </p:txBody>
      </p:sp>
      <p:cxnSp>
        <p:nvCxnSpPr>
          <p:cNvPr id="31" name="Straight Connector 30"/>
          <p:cNvCxnSpPr/>
          <p:nvPr/>
        </p:nvCxnSpPr>
        <p:spPr>
          <a:xfrm rot="5400000" flipV="1">
            <a:off x="8208622" y="257431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94910" y="2561531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33" name="Straight Connector 32"/>
          <p:cNvCxnSpPr/>
          <p:nvPr/>
        </p:nvCxnSpPr>
        <p:spPr>
          <a:xfrm rot="5400000" flipV="1">
            <a:off x="8213352" y="270399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 flipV="1">
            <a:off x="7356733" y="257431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 flipV="1">
            <a:off x="7361463" y="2703992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19080" y="2556179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2027" y="3986839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38" name="Straight Connector 37"/>
          <p:cNvCxnSpPr/>
          <p:nvPr/>
        </p:nvCxnSpPr>
        <p:spPr>
          <a:xfrm rot="7200000" flipV="1">
            <a:off x="10252476" y="3894789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3600000" flipV="1">
            <a:off x="10987885" y="388517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139391" y="3664489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0939" y="3664488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5175" y="1995113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43" name="Straight Connector 42"/>
          <p:cNvCxnSpPr/>
          <p:nvPr/>
        </p:nvCxnSpPr>
        <p:spPr>
          <a:xfrm rot="5400000" flipV="1">
            <a:off x="4517646" y="2016666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03934" y="2003885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45" name="Straight Connector 44"/>
          <p:cNvCxnSpPr/>
          <p:nvPr/>
        </p:nvCxnSpPr>
        <p:spPr>
          <a:xfrm rot="5400000" flipV="1">
            <a:off x="4522376" y="2146346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522693" y="2843246"/>
            <a:ext cx="8692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392026" y="2971835"/>
            <a:ext cx="461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O</a:t>
            </a:r>
          </a:p>
        </p:txBody>
      </p:sp>
      <p:cxnSp>
        <p:nvCxnSpPr>
          <p:cNvPr id="48" name="Straight Connector 47"/>
          <p:cNvCxnSpPr/>
          <p:nvPr/>
        </p:nvCxnSpPr>
        <p:spPr>
          <a:xfrm rot="7200000" flipV="1">
            <a:off x="10252475" y="2879785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3600000" flipV="1">
            <a:off x="10987884" y="2870171"/>
            <a:ext cx="0" cy="42937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39390" y="2649485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0938" y="2649484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1579" y="4312459"/>
            <a:ext cx="189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>
                <a:solidFill>
                  <a:schemeClr val="accent5"/>
                </a:solidFill>
              </a:rPr>
              <a:t>Bonds broken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656" y="4783840"/>
            <a:ext cx="15295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4 x C-H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2 x O=O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63831" y="4797012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4 x 413 kJ/Mol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665114" y="5029152"/>
            <a:ext cx="42225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163831" y="5160055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2 x 498 kJ/Mol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1747718" y="5390887"/>
            <a:ext cx="42225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087674" y="4783840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= 1652 kJ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93541" y="5178662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= 996 kJ</a:t>
            </a:r>
          </a:p>
        </p:txBody>
      </p:sp>
      <p:cxnSp>
        <p:nvCxnSpPr>
          <p:cNvPr id="60" name="Straight Connector 59"/>
          <p:cNvCxnSpPr>
            <a:cxnSpLocks/>
          </p:cNvCxnSpPr>
          <p:nvPr/>
        </p:nvCxnSpPr>
        <p:spPr>
          <a:xfrm flipH="1">
            <a:off x="4234397" y="5621720"/>
            <a:ext cx="1415993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254019" y="501277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1050" y="5672561"/>
            <a:ext cx="3847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Total energy in = 2648 kJ/Mol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5420" y="4280020"/>
            <a:ext cx="1734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>
                <a:solidFill>
                  <a:srgbClr val="FF0000"/>
                </a:solidFill>
              </a:rPr>
              <a:t>Bonds made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5603" y="4754868"/>
            <a:ext cx="1420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2 x C=O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5307" y="4746795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2 x 799 kJ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7744618" y="4985700"/>
            <a:ext cx="4222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498665" y="4751905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= 1598 kJ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2238" y="5140741"/>
            <a:ext cx="1390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4 x O-H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09098" y="5116663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4 x 463 kJ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7744618" y="5360787"/>
            <a:ext cx="4222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498664" y="5121705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= 1852 kJ</a:t>
            </a:r>
          </a:p>
        </p:txBody>
      </p:sp>
      <p:cxnSp>
        <p:nvCxnSpPr>
          <p:cNvPr id="72" name="Straight Connector 71"/>
          <p:cNvCxnSpPr>
            <a:cxnSpLocks/>
          </p:cNvCxnSpPr>
          <p:nvPr/>
        </p:nvCxnSpPr>
        <p:spPr>
          <a:xfrm flipH="1">
            <a:off x="9592811" y="5578328"/>
            <a:ext cx="12414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175420" y="5639641"/>
            <a:ext cx="4843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Total energy released =  3450 kJ/Mol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65010" y="495068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5982" y="6318518"/>
            <a:ext cx="6801185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200"/>
              <a:t>5. Reactants minus products:   </a:t>
            </a:r>
            <a:r>
              <a:rPr lang="en-GB" sz="2200">
                <a:solidFill>
                  <a:schemeClr val="accent5">
                    <a:lumMod val="75000"/>
                  </a:schemeClr>
                </a:solidFill>
              </a:rPr>
              <a:t>2648kJ - </a:t>
            </a:r>
            <a:r>
              <a:rPr lang="en-GB" sz="2200">
                <a:solidFill>
                  <a:srgbClr val="FF0000"/>
                </a:solidFill>
              </a:rPr>
              <a:t>3450kJ </a:t>
            </a:r>
            <a:r>
              <a:rPr lang="en-GB" sz="2200"/>
              <a:t>= </a:t>
            </a:r>
            <a:r>
              <a:rPr lang="en-GB" sz="2200">
                <a:solidFill>
                  <a:srgbClr val="FF0000"/>
                </a:solidFill>
              </a:rPr>
              <a:t>- 802 kJ  </a:t>
            </a:r>
          </a:p>
        </p:txBody>
      </p:sp>
      <p:cxnSp>
        <p:nvCxnSpPr>
          <p:cNvPr id="78" name="Straight Arrow Connector 77"/>
          <p:cNvCxnSpPr>
            <a:cxnSpLocks/>
          </p:cNvCxnSpPr>
          <p:nvPr/>
        </p:nvCxnSpPr>
        <p:spPr>
          <a:xfrm flipH="1">
            <a:off x="6836210" y="6530452"/>
            <a:ext cx="484094" cy="4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318072" y="6213120"/>
            <a:ext cx="4871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The energy change is negative so the reaction is exothermic overall. This is how much energy is released.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0DC2F6-0A7F-4E41-8564-EDB95E79DC11}"/>
              </a:ext>
            </a:extLst>
          </p:cNvPr>
          <p:cNvCxnSpPr>
            <a:cxnSpLocks/>
          </p:cNvCxnSpPr>
          <p:nvPr/>
        </p:nvCxnSpPr>
        <p:spPr>
          <a:xfrm>
            <a:off x="5908430" y="792698"/>
            <a:ext cx="0" cy="530860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19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  <p:bldP spid="22" grpId="0"/>
      <p:bldP spid="23" grpId="0"/>
      <p:bldP spid="24" grpId="0"/>
      <p:bldP spid="25" grpId="0"/>
      <p:bldP spid="26" grpId="0"/>
      <p:bldP spid="28" grpId="0"/>
      <p:bldP spid="30" grpId="0"/>
      <p:bldP spid="32" grpId="0"/>
      <p:bldP spid="36" grpId="0"/>
      <p:bldP spid="37" grpId="0"/>
      <p:bldP spid="40" grpId="0"/>
      <p:bldP spid="41" grpId="0"/>
      <p:bldP spid="42" grpId="0"/>
      <p:bldP spid="44" grpId="0"/>
      <p:bldP spid="47" grpId="0"/>
      <p:bldP spid="50" grpId="0"/>
      <p:bldP spid="51" grpId="0"/>
      <p:bldP spid="52" grpId="0"/>
      <p:bldP spid="53" grpId="0" build="p"/>
      <p:bldP spid="54" grpId="0"/>
      <p:bldP spid="56" grpId="0"/>
      <p:bldP spid="58" grpId="0"/>
      <p:bldP spid="59" grpId="0"/>
      <p:bldP spid="61" grpId="0"/>
      <p:bldP spid="62" grpId="0"/>
      <p:bldP spid="63" grpId="0"/>
      <p:bldP spid="64" grpId="0"/>
      <p:bldP spid="65" grpId="0"/>
      <p:bldP spid="67" grpId="0"/>
      <p:bldP spid="68" grpId="0"/>
      <p:bldP spid="69" grpId="0"/>
      <p:bldP spid="71" grpId="0"/>
      <p:bldP spid="73" grpId="0"/>
      <p:bldP spid="74" grpId="0"/>
      <p:bldP spid="76" grpId="0" animBg="1"/>
      <p:bldP spid="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785F-49BE-4A99-B8E0-199F29FD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28674" cy="715753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GB" sz="3200"/>
              <a:t>Calculate the energy change in the reaction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AE4AB34-6775-4DC3-A7D8-641CE3004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464365"/>
              </p:ext>
            </p:extLst>
          </p:nvPr>
        </p:nvGraphicFramePr>
        <p:xfrm>
          <a:off x="8809697" y="563646"/>
          <a:ext cx="3150704" cy="22540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75352">
                  <a:extLst>
                    <a:ext uri="{9D8B030D-6E8A-4147-A177-3AD203B41FA5}">
                      <a16:colId xmlns:a16="http://schemas.microsoft.com/office/drawing/2014/main" val="2092270887"/>
                    </a:ext>
                  </a:extLst>
                </a:gridCol>
                <a:gridCol w="1575352">
                  <a:extLst>
                    <a:ext uri="{9D8B030D-6E8A-4147-A177-3AD203B41FA5}">
                      <a16:colId xmlns:a16="http://schemas.microsoft.com/office/drawing/2014/main" val="1016147585"/>
                    </a:ext>
                  </a:extLst>
                </a:gridCol>
              </a:tblGrid>
              <a:tr h="403501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Bond energy (KJ)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098012"/>
                  </a:ext>
                </a:extLst>
              </a:tr>
              <a:tr h="403501">
                <a:tc>
                  <a:txBody>
                    <a:bodyPr/>
                    <a:lstStyle/>
                    <a:p>
                      <a:r>
                        <a:rPr lang="en-GB"/>
                        <a:t>C-----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412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8994"/>
                  </a:ext>
                </a:extLst>
              </a:tr>
              <a:tr h="403501">
                <a:tc>
                  <a:txBody>
                    <a:bodyPr/>
                    <a:lstStyle/>
                    <a:p>
                      <a:r>
                        <a:rPr lang="en-GB"/>
                        <a:t>Cl-----Cl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497211"/>
                  </a:ext>
                </a:extLst>
              </a:tr>
              <a:tr h="403501">
                <a:tc>
                  <a:txBody>
                    <a:bodyPr/>
                    <a:lstStyle/>
                    <a:p>
                      <a:r>
                        <a:rPr lang="en-GB"/>
                        <a:t>C-----Cl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338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27292"/>
                  </a:ext>
                </a:extLst>
              </a:tr>
              <a:tr h="403501">
                <a:tc>
                  <a:txBody>
                    <a:bodyPr/>
                    <a:lstStyle/>
                    <a:p>
                      <a:r>
                        <a:rPr lang="en-GB"/>
                        <a:t>H-----Cl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431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57384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0E1516A-C88B-4638-BB5B-AA518FA589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283" t="39029" r="20109" b="45311"/>
          <a:stretch/>
        </p:blipFill>
        <p:spPr>
          <a:xfrm>
            <a:off x="346656" y="1523726"/>
            <a:ext cx="8201241" cy="16946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96FDC2-D637-4D06-93D7-442291FE879E}"/>
              </a:ext>
            </a:extLst>
          </p:cNvPr>
          <p:cNvSpPr txBox="1"/>
          <p:nvPr/>
        </p:nvSpPr>
        <p:spPr>
          <a:xfrm>
            <a:off x="281579" y="4126931"/>
            <a:ext cx="1897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>
                <a:solidFill>
                  <a:schemeClr val="accent5"/>
                </a:solidFill>
              </a:rPr>
              <a:t>Bonds broken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8732C-2A60-4142-8DD3-D020BBF14A47}"/>
              </a:ext>
            </a:extLst>
          </p:cNvPr>
          <p:cNvSpPr txBox="1"/>
          <p:nvPr/>
        </p:nvSpPr>
        <p:spPr>
          <a:xfrm>
            <a:off x="346656" y="4598312"/>
            <a:ext cx="1531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4 x C-H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1 x Cl -Cl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305A5-8EA1-45E6-9FFE-0657D7FF4946}"/>
              </a:ext>
            </a:extLst>
          </p:cNvPr>
          <p:cNvSpPr txBox="1"/>
          <p:nvPr/>
        </p:nvSpPr>
        <p:spPr>
          <a:xfrm>
            <a:off x="2163831" y="4611484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4 x 412 kJ/Mol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025D1-5BC3-4C82-9F56-1D79B68CD1FB}"/>
              </a:ext>
            </a:extLst>
          </p:cNvPr>
          <p:cNvCxnSpPr/>
          <p:nvPr/>
        </p:nvCxnSpPr>
        <p:spPr>
          <a:xfrm>
            <a:off x="1665114" y="4843624"/>
            <a:ext cx="42225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A63BBB-B404-403A-AEC7-ED93FA4DD6E5}"/>
              </a:ext>
            </a:extLst>
          </p:cNvPr>
          <p:cNvSpPr txBox="1"/>
          <p:nvPr/>
        </p:nvSpPr>
        <p:spPr>
          <a:xfrm>
            <a:off x="2163831" y="4974527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1 x 242 kJ/Mol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7643A2-CAE1-4735-A20C-88DA89B2CD99}"/>
              </a:ext>
            </a:extLst>
          </p:cNvPr>
          <p:cNvCxnSpPr/>
          <p:nvPr/>
        </p:nvCxnSpPr>
        <p:spPr>
          <a:xfrm>
            <a:off x="1747718" y="5205359"/>
            <a:ext cx="422256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B55E55-3354-4B82-B55F-5191467CD989}"/>
              </a:ext>
            </a:extLst>
          </p:cNvPr>
          <p:cNvSpPr txBox="1"/>
          <p:nvPr/>
        </p:nvSpPr>
        <p:spPr>
          <a:xfrm>
            <a:off x="4087674" y="4598312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= 1648 kJ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D2BDB9-F2A6-4AEE-A93D-346494D8BF3D}"/>
              </a:ext>
            </a:extLst>
          </p:cNvPr>
          <p:cNvSpPr txBox="1"/>
          <p:nvPr/>
        </p:nvSpPr>
        <p:spPr>
          <a:xfrm>
            <a:off x="4093541" y="4993134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= 242 kJ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5E4E8B-684B-46E9-B01C-BDE3E2ADAB26}"/>
              </a:ext>
            </a:extLst>
          </p:cNvPr>
          <p:cNvCxnSpPr>
            <a:cxnSpLocks/>
          </p:cNvCxnSpPr>
          <p:nvPr/>
        </p:nvCxnSpPr>
        <p:spPr>
          <a:xfrm flipH="1">
            <a:off x="4234397" y="5436192"/>
            <a:ext cx="1415993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5521277-D932-4EFB-B500-533F17B5B2D4}"/>
              </a:ext>
            </a:extLst>
          </p:cNvPr>
          <p:cNvSpPr txBox="1"/>
          <p:nvPr/>
        </p:nvSpPr>
        <p:spPr>
          <a:xfrm>
            <a:off x="5254019" y="482724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E5C2F5-2A93-498A-9A8F-89F35DDEFF38}"/>
              </a:ext>
            </a:extLst>
          </p:cNvPr>
          <p:cNvSpPr txBox="1"/>
          <p:nvPr/>
        </p:nvSpPr>
        <p:spPr>
          <a:xfrm>
            <a:off x="1821050" y="5487033"/>
            <a:ext cx="3847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chemeClr val="accent5"/>
                </a:solidFill>
              </a:rPr>
              <a:t>Total energy in = 1890 kJ/Mol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AFECB-BDDC-44CD-8F19-232AEE113649}"/>
              </a:ext>
            </a:extLst>
          </p:cNvPr>
          <p:cNvSpPr txBox="1"/>
          <p:nvPr/>
        </p:nvSpPr>
        <p:spPr>
          <a:xfrm>
            <a:off x="6175420" y="4094492"/>
            <a:ext cx="1734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>
                <a:solidFill>
                  <a:srgbClr val="FF0000"/>
                </a:solidFill>
              </a:rPr>
              <a:t>Bonds made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135E52-4F89-43E4-82DC-DFEA6E8F6F04}"/>
              </a:ext>
            </a:extLst>
          </p:cNvPr>
          <p:cNvSpPr txBox="1"/>
          <p:nvPr/>
        </p:nvSpPr>
        <p:spPr>
          <a:xfrm>
            <a:off x="6275603" y="4569340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3 x C-H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2EA82E-AC4A-430E-8D26-E9EFF3666353}"/>
              </a:ext>
            </a:extLst>
          </p:cNvPr>
          <p:cNvSpPr txBox="1"/>
          <p:nvPr/>
        </p:nvSpPr>
        <p:spPr>
          <a:xfrm>
            <a:off x="8215307" y="4561267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3 x 412 kJ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90AF6E-B0F5-46BE-8513-BE7FB279720A}"/>
              </a:ext>
            </a:extLst>
          </p:cNvPr>
          <p:cNvCxnSpPr/>
          <p:nvPr/>
        </p:nvCxnSpPr>
        <p:spPr>
          <a:xfrm>
            <a:off x="7744618" y="4800172"/>
            <a:ext cx="4222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D08687E-6D9E-4A3C-8CFA-91BFD18D90BE}"/>
              </a:ext>
            </a:extLst>
          </p:cNvPr>
          <p:cNvSpPr txBox="1"/>
          <p:nvPr/>
        </p:nvSpPr>
        <p:spPr>
          <a:xfrm>
            <a:off x="9498665" y="4566377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= 1236 kJ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F41EE4-E3F2-413E-ADFD-7C0BA36F9E16}"/>
              </a:ext>
            </a:extLst>
          </p:cNvPr>
          <p:cNvSpPr txBox="1"/>
          <p:nvPr/>
        </p:nvSpPr>
        <p:spPr>
          <a:xfrm>
            <a:off x="6272238" y="4955213"/>
            <a:ext cx="1460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1 x C- Cl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578C62-1B8A-492F-B362-8CE44B229214}"/>
              </a:ext>
            </a:extLst>
          </p:cNvPr>
          <p:cNvSpPr txBox="1"/>
          <p:nvPr/>
        </p:nvSpPr>
        <p:spPr>
          <a:xfrm>
            <a:off x="8209098" y="4931135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1 x 338 kJ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74EF9B-3658-4FDA-845A-0E3754FD2DF4}"/>
              </a:ext>
            </a:extLst>
          </p:cNvPr>
          <p:cNvCxnSpPr/>
          <p:nvPr/>
        </p:nvCxnSpPr>
        <p:spPr>
          <a:xfrm>
            <a:off x="7744618" y="5175259"/>
            <a:ext cx="4222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875B423-FFF6-4686-95CC-E3EA3507371D}"/>
              </a:ext>
            </a:extLst>
          </p:cNvPr>
          <p:cNvSpPr txBox="1"/>
          <p:nvPr/>
        </p:nvSpPr>
        <p:spPr>
          <a:xfrm>
            <a:off x="9671431" y="4936054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= 338 kJ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C1F3F0-69C0-4CCF-B60E-D9139543FA1C}"/>
              </a:ext>
            </a:extLst>
          </p:cNvPr>
          <p:cNvCxnSpPr>
            <a:cxnSpLocks/>
          </p:cNvCxnSpPr>
          <p:nvPr/>
        </p:nvCxnSpPr>
        <p:spPr>
          <a:xfrm flipH="1">
            <a:off x="9592810" y="5651157"/>
            <a:ext cx="12414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EB1E37F-4B57-45A1-8C57-A1A63E5A52D9}"/>
              </a:ext>
            </a:extLst>
          </p:cNvPr>
          <p:cNvSpPr txBox="1"/>
          <p:nvPr/>
        </p:nvSpPr>
        <p:spPr>
          <a:xfrm>
            <a:off x="6175420" y="5691751"/>
            <a:ext cx="4749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Total energy released =  2005 kJ/Mol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8474A2-CB88-400B-9720-DA20A369199B}"/>
              </a:ext>
            </a:extLst>
          </p:cNvPr>
          <p:cNvSpPr txBox="1"/>
          <p:nvPr/>
        </p:nvSpPr>
        <p:spPr>
          <a:xfrm>
            <a:off x="10665010" y="476515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22E707-8869-4A78-8B77-92FB6D4089F5}"/>
              </a:ext>
            </a:extLst>
          </p:cNvPr>
          <p:cNvSpPr/>
          <p:nvPr/>
        </p:nvSpPr>
        <p:spPr>
          <a:xfrm>
            <a:off x="115982" y="6132990"/>
            <a:ext cx="6801185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sz="2200"/>
              <a:t>5. Reactants minus products:   </a:t>
            </a:r>
            <a:r>
              <a:rPr lang="en-GB" sz="2200">
                <a:solidFill>
                  <a:schemeClr val="accent5">
                    <a:lumMod val="75000"/>
                  </a:schemeClr>
                </a:solidFill>
              </a:rPr>
              <a:t>1890kJ - </a:t>
            </a:r>
            <a:r>
              <a:rPr lang="en-GB" sz="2200">
                <a:solidFill>
                  <a:srgbClr val="FF0000"/>
                </a:solidFill>
              </a:rPr>
              <a:t>2005kJ </a:t>
            </a:r>
            <a:r>
              <a:rPr lang="en-GB" sz="2200"/>
              <a:t>= </a:t>
            </a:r>
            <a:r>
              <a:rPr lang="en-GB" sz="2200">
                <a:solidFill>
                  <a:srgbClr val="FF0000"/>
                </a:solidFill>
              </a:rPr>
              <a:t>- 115 kJ 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FEC4BA-CFED-4C4A-857A-82D29722CCA5}"/>
              </a:ext>
            </a:extLst>
          </p:cNvPr>
          <p:cNvCxnSpPr>
            <a:cxnSpLocks/>
          </p:cNvCxnSpPr>
          <p:nvPr/>
        </p:nvCxnSpPr>
        <p:spPr>
          <a:xfrm flipH="1">
            <a:off x="6836210" y="6344924"/>
            <a:ext cx="484094" cy="4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4EBD404-D4C1-4EDC-B754-4D1D93FFFA29}"/>
              </a:ext>
            </a:extLst>
          </p:cNvPr>
          <p:cNvSpPr txBox="1"/>
          <p:nvPr/>
        </p:nvSpPr>
        <p:spPr>
          <a:xfrm>
            <a:off x="7318072" y="6027592"/>
            <a:ext cx="4871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The energy change is negative so the reaction is exothermic overall. This is how much energy is released.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8C73F2-656D-4EE0-B9BF-FF2DA378A60C}"/>
              </a:ext>
            </a:extLst>
          </p:cNvPr>
          <p:cNvSpPr txBox="1"/>
          <p:nvPr/>
        </p:nvSpPr>
        <p:spPr>
          <a:xfrm>
            <a:off x="6280586" y="5322049"/>
            <a:ext cx="148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1 x H- Cl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BDAB16F-12DD-404C-AB32-61C6F7FAB5ED}"/>
              </a:ext>
            </a:extLst>
          </p:cNvPr>
          <p:cNvCxnSpPr/>
          <p:nvPr/>
        </p:nvCxnSpPr>
        <p:spPr>
          <a:xfrm>
            <a:off x="7770096" y="5552881"/>
            <a:ext cx="4222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D207171-E96A-43AE-89B1-ABFF1AA93F4D}"/>
              </a:ext>
            </a:extLst>
          </p:cNvPr>
          <p:cNvSpPr txBox="1"/>
          <p:nvPr/>
        </p:nvSpPr>
        <p:spPr>
          <a:xfrm>
            <a:off x="8202889" y="5322049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1 x 431 kJ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D6CC08-A90A-4622-81C3-FF465C3EACE8}"/>
              </a:ext>
            </a:extLst>
          </p:cNvPr>
          <p:cNvSpPr txBox="1"/>
          <p:nvPr/>
        </p:nvSpPr>
        <p:spPr>
          <a:xfrm>
            <a:off x="9623481" y="5256200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solidFill>
                  <a:srgbClr val="FF0000"/>
                </a:solidFill>
              </a:rPr>
              <a:t>= 431 kJ</a:t>
            </a:r>
          </a:p>
        </p:txBody>
      </p:sp>
    </p:spTree>
    <p:extLst>
      <p:ext uri="{BB962C8B-B14F-4D97-AF65-F5344CB8AC3E}">
        <p14:creationId xmlns:p14="http://schemas.microsoft.com/office/powerpoint/2010/main" val="351203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/>
      <p:bldP spid="12" grpId="0"/>
      <p:bldP spid="14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1" grpId="0"/>
      <p:bldP spid="32" grpId="0"/>
      <p:bldP spid="33" grpId="0" animBg="1"/>
      <p:bldP spid="35" grpId="0"/>
      <p:bldP spid="36" grpId="0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3">
            <a:extLst>
              <a:ext uri="{FF2B5EF4-FFF2-40B4-BE49-F238E27FC236}">
                <a16:creationId xmlns:a16="http://schemas.microsoft.com/office/drawing/2014/main" id="{607CAB61-399A-4A51-B337-08FE9545C3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404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40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Complete Bond Energy Calculations</a:t>
            </a:r>
          </a:p>
          <a:p>
            <a:pPr algn="ctr"/>
            <a:endParaRPr lang="en-GB" sz="4800" b="1">
              <a:solidFill>
                <a:srgbClr val="000000"/>
              </a:solidFill>
              <a:latin typeface="Calibri" panose="020F0502020204030204" pitchFamily="34" charset="0"/>
              <a:ea typeface="Open Sans"/>
              <a:cs typeface="Calibri" panose="020F0502020204030204" pitchFamily="34" charset="0"/>
            </a:endParaRPr>
          </a:p>
        </p:txBody>
      </p:sp>
      <p:pic>
        <p:nvPicPr>
          <p:cNvPr id="3" name="Picture 2" descr="A paper with text and images&#10;&#10;AI-generated content may be incorrect.">
            <a:extLst>
              <a:ext uri="{FF2B5EF4-FFF2-40B4-BE49-F238E27FC236}">
                <a16:creationId xmlns:a16="http://schemas.microsoft.com/office/drawing/2014/main" id="{CF740354-45D2-FF33-3F4F-BCEC71652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18" y="838065"/>
            <a:ext cx="2744148" cy="4027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paper with text and symbols&#10;&#10;AI-generated content may be incorrect.">
            <a:extLst>
              <a:ext uri="{FF2B5EF4-FFF2-40B4-BE49-F238E27FC236}">
                <a16:creationId xmlns:a16="http://schemas.microsoft.com/office/drawing/2014/main" id="{CB502693-570F-5F6E-C91A-CDA14CF5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725" y="1781330"/>
            <a:ext cx="3290574" cy="48174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F0F4DB-9FFD-4394-E528-BDD025451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853" y="784277"/>
            <a:ext cx="3250822" cy="46609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paper with text and images on it&#10;&#10;AI-generated content may be incorrect.">
            <a:extLst>
              <a:ext uri="{FF2B5EF4-FFF2-40B4-BE49-F238E27FC236}">
                <a16:creationId xmlns:a16="http://schemas.microsoft.com/office/drawing/2014/main" id="{F7D2172D-634D-131C-88C5-BED0CC4532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023" y="1901056"/>
            <a:ext cx="3307290" cy="45780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277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8545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GB" sz="4000" b="1"/>
              <a:t>Task: </a:t>
            </a:r>
            <a:r>
              <a:rPr lang="en-GB" sz="4000"/>
              <a:t>Complete Bond Energy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278" y="58723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/>
              <a:t>C/W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7E0DF-43CB-4091-AC0D-E310008E8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18" y="838065"/>
            <a:ext cx="2744148" cy="4027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1E9A4D-9DF7-4E1B-868A-6DE588C98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725" y="1781330"/>
            <a:ext cx="3290574" cy="48174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6877FB-46D9-4FAA-B805-4285A344C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853" y="784277"/>
            <a:ext cx="3250822" cy="46609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6F0DF0-7888-4B46-A58D-F5DA2AD12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023" y="1901056"/>
            <a:ext cx="3307290" cy="45780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340E593C-10A3-471A-8A08-D4645AE4E9CE}"/>
              </a:ext>
            </a:extLst>
          </p:cNvPr>
          <p:cNvSpPr/>
          <p:nvPr/>
        </p:nvSpPr>
        <p:spPr>
          <a:xfrm rot="1628869">
            <a:off x="2859954" y="3856202"/>
            <a:ext cx="467544" cy="484094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A6DDFBC-5D93-4DCE-A892-5347662731D1}"/>
              </a:ext>
            </a:extLst>
          </p:cNvPr>
          <p:cNvSpPr/>
          <p:nvPr/>
        </p:nvSpPr>
        <p:spPr>
          <a:xfrm rot="19270951">
            <a:off x="5863081" y="3821167"/>
            <a:ext cx="467544" cy="484094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320456C-973A-4BE9-A2F0-E50593081170}"/>
              </a:ext>
            </a:extLst>
          </p:cNvPr>
          <p:cNvSpPr/>
          <p:nvPr/>
        </p:nvSpPr>
        <p:spPr>
          <a:xfrm rot="1407364">
            <a:off x="8429251" y="3801136"/>
            <a:ext cx="467544" cy="484094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707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8545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GB" sz="4000"/>
              <a:t>Self Assess – Bond energy calculations 1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9FA6F0-1A1D-421C-B8C1-1A8B653CE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409" y="1901923"/>
            <a:ext cx="5791200" cy="126930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F136A08-F5E7-46BF-AE9A-16FB5A479340}"/>
              </a:ext>
            </a:extLst>
          </p:cNvPr>
          <p:cNvSpPr txBox="1"/>
          <p:nvPr/>
        </p:nvSpPr>
        <p:spPr>
          <a:xfrm>
            <a:off x="165236" y="747268"/>
            <a:ext cx="623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Ethene reacts with bromine according to the scheme below.</a:t>
            </a:r>
          </a:p>
          <a:p>
            <a:r>
              <a:rPr lang="en-GB"/>
              <a:t>a) Calculate the overall energy change for this reaction. 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5A1743D-B614-4647-B3C1-FC101AD50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47899"/>
              </p:ext>
            </p:extLst>
          </p:nvPr>
        </p:nvGraphicFramePr>
        <p:xfrm>
          <a:off x="6324600" y="816557"/>
          <a:ext cx="5652528" cy="101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893">
                  <a:extLst>
                    <a:ext uri="{9D8B030D-6E8A-4147-A177-3AD203B41FA5}">
                      <a16:colId xmlns:a16="http://schemas.microsoft.com/office/drawing/2014/main" val="4201691975"/>
                    </a:ext>
                  </a:extLst>
                </a:gridCol>
                <a:gridCol w="909527">
                  <a:extLst>
                    <a:ext uri="{9D8B030D-6E8A-4147-A177-3AD203B41FA5}">
                      <a16:colId xmlns:a16="http://schemas.microsoft.com/office/drawing/2014/main" val="464177362"/>
                    </a:ext>
                  </a:extLst>
                </a:gridCol>
                <a:gridCol w="909527">
                  <a:extLst>
                    <a:ext uri="{9D8B030D-6E8A-4147-A177-3AD203B41FA5}">
                      <a16:colId xmlns:a16="http://schemas.microsoft.com/office/drawing/2014/main" val="1691903672"/>
                    </a:ext>
                  </a:extLst>
                </a:gridCol>
                <a:gridCol w="909527">
                  <a:extLst>
                    <a:ext uri="{9D8B030D-6E8A-4147-A177-3AD203B41FA5}">
                      <a16:colId xmlns:a16="http://schemas.microsoft.com/office/drawing/2014/main" val="1314046780"/>
                    </a:ext>
                  </a:extLst>
                </a:gridCol>
                <a:gridCol w="909527">
                  <a:extLst>
                    <a:ext uri="{9D8B030D-6E8A-4147-A177-3AD203B41FA5}">
                      <a16:colId xmlns:a16="http://schemas.microsoft.com/office/drawing/2014/main" val="3230746774"/>
                    </a:ext>
                  </a:extLst>
                </a:gridCol>
                <a:gridCol w="909527">
                  <a:extLst>
                    <a:ext uri="{9D8B030D-6E8A-4147-A177-3AD203B41FA5}">
                      <a16:colId xmlns:a16="http://schemas.microsoft.com/office/drawing/2014/main" val="2390118493"/>
                    </a:ext>
                  </a:extLst>
                </a:gridCol>
              </a:tblGrid>
              <a:tr h="375997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C=C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Br-Br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C-Br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92540"/>
                  </a:ext>
                </a:extLst>
              </a:tr>
              <a:tr h="375997">
                <a:tc>
                  <a:txBody>
                    <a:bodyPr/>
                    <a:lstStyle/>
                    <a:p>
                      <a:r>
                        <a:rPr lang="en-GB" b="1">
                          <a:solidFill>
                            <a:schemeClr val="tx1"/>
                          </a:solidFill>
                        </a:rPr>
                        <a:t>Energy / kJ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612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193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348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276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603059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CF0BE-7294-4AC6-BD90-F03E863A9749}"/>
              </a:ext>
            </a:extLst>
          </p:cNvPr>
          <p:cNvCxnSpPr>
            <a:cxnSpLocks/>
          </p:cNvCxnSpPr>
          <p:nvPr/>
        </p:nvCxnSpPr>
        <p:spPr>
          <a:xfrm>
            <a:off x="6288258" y="2180492"/>
            <a:ext cx="0" cy="350864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9B5EFD-C0F8-432E-A75D-8525CCD1F59E}"/>
              </a:ext>
            </a:extLst>
          </p:cNvPr>
          <p:cNvSpPr txBox="1"/>
          <p:nvPr/>
        </p:nvSpPr>
        <p:spPr>
          <a:xfrm>
            <a:off x="708152" y="3171227"/>
            <a:ext cx="1613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Bonds broken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09A55-C4CC-4F38-BA4E-DD562F6525A3}"/>
              </a:ext>
            </a:extLst>
          </p:cNvPr>
          <p:cNvSpPr txBox="1"/>
          <p:nvPr/>
        </p:nvSpPr>
        <p:spPr>
          <a:xfrm>
            <a:off x="708152" y="3625008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4 x C-H </a:t>
            </a:r>
            <a:r>
              <a:rPr lang="en-GB" sz="2000">
                <a:solidFill>
                  <a:schemeClr val="accent1"/>
                </a:solidFill>
              </a:rPr>
              <a:t>= 4 x 412 = </a:t>
            </a:r>
            <a:r>
              <a:rPr lang="en-GB" sz="2000" u="sng">
                <a:solidFill>
                  <a:schemeClr val="accent1"/>
                </a:solidFill>
              </a:rPr>
              <a:t>1648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61C0F-1B39-45DF-8178-31D639176F28}"/>
              </a:ext>
            </a:extLst>
          </p:cNvPr>
          <p:cNvSpPr txBox="1"/>
          <p:nvPr/>
        </p:nvSpPr>
        <p:spPr>
          <a:xfrm>
            <a:off x="708152" y="4078789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1 x C=C </a:t>
            </a:r>
            <a:r>
              <a:rPr lang="en-GB" sz="2000">
                <a:solidFill>
                  <a:schemeClr val="accent1"/>
                </a:solidFill>
              </a:rPr>
              <a:t>= 1 x 612 = </a:t>
            </a:r>
            <a:r>
              <a:rPr lang="en-GB" sz="2000" u="sng">
                <a:solidFill>
                  <a:schemeClr val="accent1"/>
                </a:solidFill>
              </a:rPr>
              <a:t>612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7552B-0EE7-475A-8CD0-301D51008D0A}"/>
              </a:ext>
            </a:extLst>
          </p:cNvPr>
          <p:cNvSpPr txBox="1"/>
          <p:nvPr/>
        </p:nvSpPr>
        <p:spPr>
          <a:xfrm>
            <a:off x="708152" y="4532570"/>
            <a:ext cx="2699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1 x Br-Br </a:t>
            </a:r>
            <a:r>
              <a:rPr lang="en-GB" sz="2000">
                <a:solidFill>
                  <a:schemeClr val="accent1"/>
                </a:solidFill>
              </a:rPr>
              <a:t>= 1 x 193 = </a:t>
            </a:r>
            <a:r>
              <a:rPr lang="en-GB" sz="2000" u="sng">
                <a:solidFill>
                  <a:schemeClr val="accent1"/>
                </a:solidFill>
              </a:rPr>
              <a:t>193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AFEBE8-BE7A-4FD1-BA17-15041754C98C}"/>
              </a:ext>
            </a:extLst>
          </p:cNvPr>
          <p:cNvSpPr txBox="1"/>
          <p:nvPr/>
        </p:nvSpPr>
        <p:spPr>
          <a:xfrm>
            <a:off x="3578926" y="38250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401B37-4118-4ABD-8749-6FE3ED008C7A}"/>
              </a:ext>
            </a:extLst>
          </p:cNvPr>
          <p:cNvSpPr txBox="1"/>
          <p:nvPr/>
        </p:nvSpPr>
        <p:spPr>
          <a:xfrm>
            <a:off x="3578926" y="43325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B05687-DBC3-4D2C-9B1D-4476728656C5}"/>
              </a:ext>
            </a:extLst>
          </p:cNvPr>
          <p:cNvCxnSpPr>
            <a:cxnSpLocks/>
          </p:cNvCxnSpPr>
          <p:nvPr/>
        </p:nvCxnSpPr>
        <p:spPr>
          <a:xfrm>
            <a:off x="790273" y="5053815"/>
            <a:ext cx="357484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3F49DD7-AB79-4EE5-BF6E-CF8F22C1B94E}"/>
              </a:ext>
            </a:extLst>
          </p:cNvPr>
          <p:cNvSpPr txBox="1"/>
          <p:nvPr/>
        </p:nvSpPr>
        <p:spPr>
          <a:xfrm>
            <a:off x="2776121" y="5113396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chemeClr val="accent1"/>
                </a:solidFill>
              </a:rPr>
              <a:t>2453 kJ</a:t>
            </a:r>
            <a:endParaRPr lang="en-GB" sz="2800" u="sng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E75E22-6360-443A-B00C-EE6EA0AAF4A4}"/>
              </a:ext>
            </a:extLst>
          </p:cNvPr>
          <p:cNvSpPr txBox="1"/>
          <p:nvPr/>
        </p:nvSpPr>
        <p:spPr>
          <a:xfrm>
            <a:off x="6483598" y="3191914"/>
            <a:ext cx="14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Bonds made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B078F8-925C-4BC1-89E3-C74411F5E9DD}"/>
              </a:ext>
            </a:extLst>
          </p:cNvPr>
          <p:cNvSpPr txBox="1"/>
          <p:nvPr/>
        </p:nvSpPr>
        <p:spPr>
          <a:xfrm>
            <a:off x="6483598" y="3645695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4 x C-H </a:t>
            </a:r>
            <a:r>
              <a:rPr lang="en-GB" sz="2000">
                <a:solidFill>
                  <a:srgbClr val="FF0000"/>
                </a:solidFill>
              </a:rPr>
              <a:t>= 4 x 412 = </a:t>
            </a:r>
            <a:r>
              <a:rPr lang="en-GB" sz="2000" u="sng">
                <a:solidFill>
                  <a:srgbClr val="FF0000"/>
                </a:solidFill>
              </a:rPr>
              <a:t>1648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191CE7-BEDE-4369-B449-2DCEB7624284}"/>
              </a:ext>
            </a:extLst>
          </p:cNvPr>
          <p:cNvSpPr txBox="1"/>
          <p:nvPr/>
        </p:nvSpPr>
        <p:spPr>
          <a:xfrm>
            <a:off x="6483598" y="4099476"/>
            <a:ext cx="2521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1 x C-C </a:t>
            </a:r>
            <a:r>
              <a:rPr lang="en-GB" sz="2000">
                <a:solidFill>
                  <a:srgbClr val="FF0000"/>
                </a:solidFill>
              </a:rPr>
              <a:t>= 1 x 348 = </a:t>
            </a:r>
            <a:r>
              <a:rPr lang="en-GB" sz="2000" u="sng">
                <a:solidFill>
                  <a:srgbClr val="FF0000"/>
                </a:solidFill>
              </a:rPr>
              <a:t>348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C0EA45-D0DE-4322-8CD7-DAC7D7838B86}"/>
              </a:ext>
            </a:extLst>
          </p:cNvPr>
          <p:cNvSpPr txBox="1"/>
          <p:nvPr/>
        </p:nvSpPr>
        <p:spPr>
          <a:xfrm>
            <a:off x="6483598" y="4553257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2 x C-Br </a:t>
            </a:r>
            <a:r>
              <a:rPr lang="en-GB" sz="2000">
                <a:solidFill>
                  <a:srgbClr val="FF0000"/>
                </a:solidFill>
              </a:rPr>
              <a:t>= 2 x 276 = </a:t>
            </a:r>
            <a:r>
              <a:rPr lang="en-GB" sz="2000" u="sng">
                <a:solidFill>
                  <a:srgbClr val="FF0000"/>
                </a:solidFill>
              </a:rPr>
              <a:t>552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FCF76E-48A9-4F36-80B9-A349D25D6766}"/>
              </a:ext>
            </a:extLst>
          </p:cNvPr>
          <p:cNvSpPr txBox="1"/>
          <p:nvPr/>
        </p:nvSpPr>
        <p:spPr>
          <a:xfrm>
            <a:off x="9354372" y="3845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AB2EE6-06F6-4046-9194-684F78491CD2}"/>
              </a:ext>
            </a:extLst>
          </p:cNvPr>
          <p:cNvSpPr txBox="1"/>
          <p:nvPr/>
        </p:nvSpPr>
        <p:spPr>
          <a:xfrm>
            <a:off x="9354372" y="4353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C4F6B2-792C-46E9-8A11-50E91ABDD323}"/>
              </a:ext>
            </a:extLst>
          </p:cNvPr>
          <p:cNvCxnSpPr>
            <a:cxnSpLocks/>
          </p:cNvCxnSpPr>
          <p:nvPr/>
        </p:nvCxnSpPr>
        <p:spPr>
          <a:xfrm>
            <a:off x="6565719" y="5074502"/>
            <a:ext cx="35748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74A5B6-FA29-4D12-80F4-BF42B97C5875}"/>
              </a:ext>
            </a:extLst>
          </p:cNvPr>
          <p:cNvSpPr txBox="1"/>
          <p:nvPr/>
        </p:nvSpPr>
        <p:spPr>
          <a:xfrm>
            <a:off x="8551567" y="5134083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rgbClr val="FF0000"/>
                </a:solidFill>
              </a:rPr>
              <a:t>2548 kJ</a:t>
            </a:r>
            <a:endParaRPr lang="en-GB" sz="2800" u="sng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67F0B9-C442-4E1C-99AF-A6487E0942D6}"/>
              </a:ext>
            </a:extLst>
          </p:cNvPr>
          <p:cNvSpPr txBox="1"/>
          <p:nvPr/>
        </p:nvSpPr>
        <p:spPr>
          <a:xfrm>
            <a:off x="2488663" y="5930991"/>
            <a:ext cx="6822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chemeClr val="accent6">
                    <a:lumMod val="75000"/>
                  </a:schemeClr>
                </a:solidFill>
              </a:rPr>
              <a:t>Reactants minus products = </a:t>
            </a:r>
            <a:r>
              <a:rPr lang="en-GB" sz="2400">
                <a:solidFill>
                  <a:schemeClr val="accent6">
                    <a:lumMod val="75000"/>
                  </a:schemeClr>
                </a:solidFill>
              </a:rPr>
              <a:t>2453 – 2548 =  </a:t>
            </a:r>
            <a:r>
              <a:rPr lang="en-GB" sz="3200" b="1" u="sng">
                <a:solidFill>
                  <a:schemeClr val="accent6">
                    <a:lumMod val="75000"/>
                  </a:schemeClr>
                </a:solidFill>
              </a:rPr>
              <a:t>- 95 kJ </a:t>
            </a:r>
            <a:endParaRPr lang="en-GB" sz="2400" b="1" u="sng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55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8545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GB" sz="4000"/>
              <a:t>Self Assess – Bond energy calculations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278" y="58723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/>
              <a:t>C/W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9B5EFD-C0F8-432E-A75D-8525CCD1F59E}"/>
              </a:ext>
            </a:extLst>
          </p:cNvPr>
          <p:cNvSpPr txBox="1"/>
          <p:nvPr/>
        </p:nvSpPr>
        <p:spPr>
          <a:xfrm>
            <a:off x="708152" y="3171227"/>
            <a:ext cx="1613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Bonds broken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09A55-C4CC-4F38-BA4E-DD562F6525A3}"/>
              </a:ext>
            </a:extLst>
          </p:cNvPr>
          <p:cNvSpPr txBox="1"/>
          <p:nvPr/>
        </p:nvSpPr>
        <p:spPr>
          <a:xfrm>
            <a:off x="708152" y="3625008"/>
            <a:ext cx="2677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8 x C-H </a:t>
            </a:r>
            <a:r>
              <a:rPr lang="en-GB" sz="2000">
                <a:solidFill>
                  <a:schemeClr val="accent1"/>
                </a:solidFill>
              </a:rPr>
              <a:t>= 8 x 412 = </a:t>
            </a:r>
            <a:r>
              <a:rPr lang="en-GB" sz="2000" u="sng">
                <a:solidFill>
                  <a:schemeClr val="accent1"/>
                </a:solidFill>
              </a:rPr>
              <a:t>3296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61C0F-1B39-45DF-8178-31D639176F28}"/>
              </a:ext>
            </a:extLst>
          </p:cNvPr>
          <p:cNvSpPr txBox="1"/>
          <p:nvPr/>
        </p:nvSpPr>
        <p:spPr>
          <a:xfrm>
            <a:off x="708152" y="4078789"/>
            <a:ext cx="2645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1 x O=O </a:t>
            </a:r>
            <a:r>
              <a:rPr lang="en-GB" sz="2000">
                <a:solidFill>
                  <a:schemeClr val="accent1"/>
                </a:solidFill>
              </a:rPr>
              <a:t>= 1 x 497 = </a:t>
            </a:r>
            <a:r>
              <a:rPr lang="en-GB" sz="2000" u="sng">
                <a:solidFill>
                  <a:schemeClr val="accent1"/>
                </a:solidFill>
              </a:rPr>
              <a:t>497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AFEBE8-BE7A-4FD1-BA17-15041754C98C}"/>
              </a:ext>
            </a:extLst>
          </p:cNvPr>
          <p:cNvSpPr txBox="1"/>
          <p:nvPr/>
        </p:nvSpPr>
        <p:spPr>
          <a:xfrm>
            <a:off x="3475763" y="38660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B05687-DBC3-4D2C-9B1D-4476728656C5}"/>
              </a:ext>
            </a:extLst>
          </p:cNvPr>
          <p:cNvCxnSpPr>
            <a:cxnSpLocks/>
          </p:cNvCxnSpPr>
          <p:nvPr/>
        </p:nvCxnSpPr>
        <p:spPr>
          <a:xfrm>
            <a:off x="835651" y="4678938"/>
            <a:ext cx="357484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3F49DD7-AB79-4EE5-BF6E-CF8F22C1B94E}"/>
              </a:ext>
            </a:extLst>
          </p:cNvPr>
          <p:cNvSpPr txBox="1"/>
          <p:nvPr/>
        </p:nvSpPr>
        <p:spPr>
          <a:xfrm>
            <a:off x="2821499" y="4738519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chemeClr val="accent1"/>
                </a:solidFill>
              </a:rPr>
              <a:t>3793 kJ</a:t>
            </a:r>
            <a:endParaRPr lang="en-GB" sz="2800" u="sng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E75E22-6360-443A-B00C-EE6EA0AAF4A4}"/>
              </a:ext>
            </a:extLst>
          </p:cNvPr>
          <p:cNvSpPr txBox="1"/>
          <p:nvPr/>
        </p:nvSpPr>
        <p:spPr>
          <a:xfrm>
            <a:off x="6483598" y="3191914"/>
            <a:ext cx="14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Bonds made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B078F8-925C-4BC1-89E3-C74411F5E9DD}"/>
              </a:ext>
            </a:extLst>
          </p:cNvPr>
          <p:cNvSpPr txBox="1"/>
          <p:nvPr/>
        </p:nvSpPr>
        <p:spPr>
          <a:xfrm>
            <a:off x="6483598" y="3645695"/>
            <a:ext cx="2677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6 x C-H </a:t>
            </a:r>
            <a:r>
              <a:rPr lang="en-GB" sz="2000">
                <a:solidFill>
                  <a:srgbClr val="FF0000"/>
                </a:solidFill>
              </a:rPr>
              <a:t>= 6 x 412 = </a:t>
            </a:r>
            <a:r>
              <a:rPr lang="en-GB" sz="2000" u="sng">
                <a:solidFill>
                  <a:srgbClr val="FF0000"/>
                </a:solidFill>
              </a:rPr>
              <a:t>2472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191CE7-BEDE-4369-B449-2DCEB7624284}"/>
              </a:ext>
            </a:extLst>
          </p:cNvPr>
          <p:cNvSpPr txBox="1"/>
          <p:nvPr/>
        </p:nvSpPr>
        <p:spPr>
          <a:xfrm>
            <a:off x="6483598" y="4099476"/>
            <a:ext cx="2558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2 x C-O </a:t>
            </a:r>
            <a:r>
              <a:rPr lang="en-GB" sz="2000">
                <a:solidFill>
                  <a:srgbClr val="FF0000"/>
                </a:solidFill>
              </a:rPr>
              <a:t>= 2 x 336 = </a:t>
            </a:r>
            <a:r>
              <a:rPr lang="en-GB" sz="2000" u="sng">
                <a:solidFill>
                  <a:srgbClr val="FF0000"/>
                </a:solidFill>
              </a:rPr>
              <a:t>672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C0EA45-D0DE-4322-8CD7-DAC7D7838B86}"/>
              </a:ext>
            </a:extLst>
          </p:cNvPr>
          <p:cNvSpPr txBox="1"/>
          <p:nvPr/>
        </p:nvSpPr>
        <p:spPr>
          <a:xfrm>
            <a:off x="6483598" y="4553257"/>
            <a:ext cx="25843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2 x O-H </a:t>
            </a:r>
            <a:r>
              <a:rPr lang="en-GB" sz="2000">
                <a:solidFill>
                  <a:srgbClr val="FF0000"/>
                </a:solidFill>
              </a:rPr>
              <a:t>= 2 x 464 = </a:t>
            </a:r>
            <a:r>
              <a:rPr lang="en-GB" sz="2000" u="sng">
                <a:solidFill>
                  <a:srgbClr val="FF0000"/>
                </a:solidFill>
              </a:rPr>
              <a:t>928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FCF76E-48A9-4F36-80B9-A349D25D6766}"/>
              </a:ext>
            </a:extLst>
          </p:cNvPr>
          <p:cNvSpPr txBox="1"/>
          <p:nvPr/>
        </p:nvSpPr>
        <p:spPr>
          <a:xfrm>
            <a:off x="9354372" y="3845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AB2EE6-06F6-4046-9194-684F78491CD2}"/>
              </a:ext>
            </a:extLst>
          </p:cNvPr>
          <p:cNvSpPr txBox="1"/>
          <p:nvPr/>
        </p:nvSpPr>
        <p:spPr>
          <a:xfrm>
            <a:off x="9354372" y="4353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C4F6B2-792C-46E9-8A11-50E91ABDD323}"/>
              </a:ext>
            </a:extLst>
          </p:cNvPr>
          <p:cNvCxnSpPr>
            <a:cxnSpLocks/>
          </p:cNvCxnSpPr>
          <p:nvPr/>
        </p:nvCxnSpPr>
        <p:spPr>
          <a:xfrm>
            <a:off x="6565719" y="5074502"/>
            <a:ext cx="35748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74A5B6-FA29-4D12-80F4-BF42B97C5875}"/>
              </a:ext>
            </a:extLst>
          </p:cNvPr>
          <p:cNvSpPr txBox="1"/>
          <p:nvPr/>
        </p:nvSpPr>
        <p:spPr>
          <a:xfrm>
            <a:off x="8551567" y="5134083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rgbClr val="FF0000"/>
                </a:solidFill>
              </a:rPr>
              <a:t>4072 kJ</a:t>
            </a:r>
            <a:endParaRPr lang="en-GB" sz="2800" u="sng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67F0B9-C442-4E1C-99AF-A6487E0942D6}"/>
              </a:ext>
            </a:extLst>
          </p:cNvPr>
          <p:cNvSpPr txBox="1"/>
          <p:nvPr/>
        </p:nvSpPr>
        <p:spPr>
          <a:xfrm>
            <a:off x="2488663" y="5930991"/>
            <a:ext cx="7031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chemeClr val="accent6">
                    <a:lumMod val="75000"/>
                  </a:schemeClr>
                </a:solidFill>
              </a:rPr>
              <a:t>Reactants minus products = </a:t>
            </a:r>
            <a:r>
              <a:rPr lang="en-GB" sz="2400">
                <a:solidFill>
                  <a:schemeClr val="accent6">
                    <a:lumMod val="75000"/>
                  </a:schemeClr>
                </a:solidFill>
              </a:rPr>
              <a:t>3793 – 4072 =  </a:t>
            </a:r>
            <a:r>
              <a:rPr lang="en-GB" sz="3200" b="1" u="sng">
                <a:solidFill>
                  <a:schemeClr val="accent6">
                    <a:lumMod val="75000"/>
                  </a:schemeClr>
                </a:solidFill>
              </a:rPr>
              <a:t>- 279 kJ </a:t>
            </a:r>
            <a:endParaRPr lang="en-GB" sz="2400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B1291B-7A72-47FA-BFCE-60AD8DF23E91}"/>
              </a:ext>
            </a:extLst>
          </p:cNvPr>
          <p:cNvSpPr txBox="1"/>
          <p:nvPr/>
        </p:nvSpPr>
        <p:spPr>
          <a:xfrm>
            <a:off x="374148" y="807789"/>
            <a:ext cx="6230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Methanol can be made by reacting methane with a limited supply of oxygen in the presence of a platinum catalyst.</a:t>
            </a:r>
          </a:p>
          <a:p>
            <a:br>
              <a:rPr lang="en-GB"/>
            </a:br>
            <a:r>
              <a:rPr lang="en-GB"/>
              <a:t>a) Calculate the overall energy change for this reaction. 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F8EC9B5-B65A-4ACD-B58D-47BBF2F76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72268"/>
              </p:ext>
            </p:extLst>
          </p:nvPr>
        </p:nvGraphicFramePr>
        <p:xfrm>
          <a:off x="6238793" y="844530"/>
          <a:ext cx="5825045" cy="75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957">
                  <a:extLst>
                    <a:ext uri="{9D8B030D-6E8A-4147-A177-3AD203B41FA5}">
                      <a16:colId xmlns:a16="http://schemas.microsoft.com/office/drawing/2014/main" val="4201691975"/>
                    </a:ext>
                  </a:extLst>
                </a:gridCol>
                <a:gridCol w="1117022">
                  <a:extLst>
                    <a:ext uri="{9D8B030D-6E8A-4147-A177-3AD203B41FA5}">
                      <a16:colId xmlns:a16="http://schemas.microsoft.com/office/drawing/2014/main" val="464177362"/>
                    </a:ext>
                  </a:extLst>
                </a:gridCol>
                <a:gridCol w="1117022">
                  <a:extLst>
                    <a:ext uri="{9D8B030D-6E8A-4147-A177-3AD203B41FA5}">
                      <a16:colId xmlns:a16="http://schemas.microsoft.com/office/drawing/2014/main" val="1691903672"/>
                    </a:ext>
                  </a:extLst>
                </a:gridCol>
                <a:gridCol w="1117022">
                  <a:extLst>
                    <a:ext uri="{9D8B030D-6E8A-4147-A177-3AD203B41FA5}">
                      <a16:colId xmlns:a16="http://schemas.microsoft.com/office/drawing/2014/main" val="1314046780"/>
                    </a:ext>
                  </a:extLst>
                </a:gridCol>
                <a:gridCol w="1117022">
                  <a:extLst>
                    <a:ext uri="{9D8B030D-6E8A-4147-A177-3AD203B41FA5}">
                      <a16:colId xmlns:a16="http://schemas.microsoft.com/office/drawing/2014/main" val="3230746774"/>
                    </a:ext>
                  </a:extLst>
                </a:gridCol>
              </a:tblGrid>
              <a:tr h="375997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O=O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O-H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92540"/>
                  </a:ext>
                </a:extLst>
              </a:tr>
              <a:tr h="375997">
                <a:tc>
                  <a:txBody>
                    <a:bodyPr/>
                    <a:lstStyle/>
                    <a:p>
                      <a:r>
                        <a:rPr lang="en-GB" b="1">
                          <a:solidFill>
                            <a:schemeClr val="tx1"/>
                          </a:solidFill>
                        </a:rPr>
                        <a:t>Energy / kJ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336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603059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6AA496DA-4595-4B9D-A2B2-E534EB519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61" y="2007988"/>
            <a:ext cx="6124222" cy="118877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CF0BE-7294-4AC6-BD90-F03E863A9749}"/>
              </a:ext>
            </a:extLst>
          </p:cNvPr>
          <p:cNvCxnSpPr>
            <a:cxnSpLocks/>
          </p:cNvCxnSpPr>
          <p:nvPr/>
        </p:nvCxnSpPr>
        <p:spPr>
          <a:xfrm>
            <a:off x="6288258" y="2180492"/>
            <a:ext cx="0" cy="350864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41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8545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GB" sz="4000"/>
              <a:t>Self Assess – Bond energy calculations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278" y="58723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/>
              <a:t>C/W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9B5EFD-C0F8-432E-A75D-8525CCD1F59E}"/>
              </a:ext>
            </a:extLst>
          </p:cNvPr>
          <p:cNvSpPr txBox="1"/>
          <p:nvPr/>
        </p:nvSpPr>
        <p:spPr>
          <a:xfrm>
            <a:off x="708152" y="3171227"/>
            <a:ext cx="1613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Bonds broken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09A55-C4CC-4F38-BA4E-DD562F6525A3}"/>
              </a:ext>
            </a:extLst>
          </p:cNvPr>
          <p:cNvSpPr txBox="1"/>
          <p:nvPr/>
        </p:nvSpPr>
        <p:spPr>
          <a:xfrm>
            <a:off x="708152" y="3625008"/>
            <a:ext cx="2667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4 x C-H </a:t>
            </a:r>
            <a:r>
              <a:rPr lang="en-GB" sz="2000">
                <a:solidFill>
                  <a:schemeClr val="accent1"/>
                </a:solidFill>
              </a:rPr>
              <a:t>= 4 x 412 = </a:t>
            </a:r>
            <a:r>
              <a:rPr lang="en-GB" sz="2000" u="sng">
                <a:solidFill>
                  <a:schemeClr val="accent1"/>
                </a:solidFill>
              </a:rPr>
              <a:t>1648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61C0F-1B39-45DF-8178-31D639176F28}"/>
              </a:ext>
            </a:extLst>
          </p:cNvPr>
          <p:cNvSpPr txBox="1"/>
          <p:nvPr/>
        </p:nvSpPr>
        <p:spPr>
          <a:xfrm>
            <a:off x="708152" y="4078789"/>
            <a:ext cx="2645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2 x O=O </a:t>
            </a:r>
            <a:r>
              <a:rPr lang="en-GB" sz="2000">
                <a:solidFill>
                  <a:schemeClr val="accent1"/>
                </a:solidFill>
              </a:rPr>
              <a:t>= 2 x 497 = </a:t>
            </a:r>
            <a:r>
              <a:rPr lang="en-GB" sz="2000" u="sng">
                <a:solidFill>
                  <a:schemeClr val="accent1"/>
                </a:solidFill>
              </a:rPr>
              <a:t>994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AFEBE8-BE7A-4FD1-BA17-15041754C98C}"/>
              </a:ext>
            </a:extLst>
          </p:cNvPr>
          <p:cNvSpPr txBox="1"/>
          <p:nvPr/>
        </p:nvSpPr>
        <p:spPr>
          <a:xfrm>
            <a:off x="3578926" y="38250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B05687-DBC3-4D2C-9B1D-4476728656C5}"/>
              </a:ext>
            </a:extLst>
          </p:cNvPr>
          <p:cNvCxnSpPr>
            <a:cxnSpLocks/>
          </p:cNvCxnSpPr>
          <p:nvPr/>
        </p:nvCxnSpPr>
        <p:spPr>
          <a:xfrm>
            <a:off x="749967" y="4613067"/>
            <a:ext cx="357484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3F49DD7-AB79-4EE5-BF6E-CF8F22C1B94E}"/>
              </a:ext>
            </a:extLst>
          </p:cNvPr>
          <p:cNvSpPr txBox="1"/>
          <p:nvPr/>
        </p:nvSpPr>
        <p:spPr>
          <a:xfrm>
            <a:off x="2735815" y="4672648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chemeClr val="accent1"/>
                </a:solidFill>
              </a:rPr>
              <a:t>2642 kJ</a:t>
            </a:r>
            <a:endParaRPr lang="en-GB" sz="2800" u="sng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E75E22-6360-443A-B00C-EE6EA0AAF4A4}"/>
              </a:ext>
            </a:extLst>
          </p:cNvPr>
          <p:cNvSpPr txBox="1"/>
          <p:nvPr/>
        </p:nvSpPr>
        <p:spPr>
          <a:xfrm>
            <a:off x="6483598" y="3191914"/>
            <a:ext cx="14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Bonds made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B078F8-925C-4BC1-89E3-C74411F5E9DD}"/>
              </a:ext>
            </a:extLst>
          </p:cNvPr>
          <p:cNvSpPr txBox="1"/>
          <p:nvPr/>
        </p:nvSpPr>
        <p:spPr>
          <a:xfrm>
            <a:off x="6483598" y="3645695"/>
            <a:ext cx="2738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2 x C=O </a:t>
            </a:r>
            <a:r>
              <a:rPr lang="en-GB" sz="2000">
                <a:solidFill>
                  <a:srgbClr val="FF0000"/>
                </a:solidFill>
              </a:rPr>
              <a:t>= 2 x 803 = </a:t>
            </a:r>
            <a:r>
              <a:rPr lang="en-GB" sz="2000" u="sng">
                <a:solidFill>
                  <a:srgbClr val="FF0000"/>
                </a:solidFill>
              </a:rPr>
              <a:t>1606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191CE7-BEDE-4369-B449-2DCEB7624284}"/>
              </a:ext>
            </a:extLst>
          </p:cNvPr>
          <p:cNvSpPr txBox="1"/>
          <p:nvPr/>
        </p:nvSpPr>
        <p:spPr>
          <a:xfrm>
            <a:off x="6483598" y="4099476"/>
            <a:ext cx="2714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4 x O-H </a:t>
            </a:r>
            <a:r>
              <a:rPr lang="en-GB" sz="2000">
                <a:solidFill>
                  <a:srgbClr val="FF0000"/>
                </a:solidFill>
              </a:rPr>
              <a:t>= 4 x 464 = </a:t>
            </a:r>
            <a:r>
              <a:rPr lang="en-GB" sz="2000" u="sng">
                <a:solidFill>
                  <a:srgbClr val="FF0000"/>
                </a:solidFill>
              </a:rPr>
              <a:t>1856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FCF76E-48A9-4F36-80B9-A349D25D6766}"/>
              </a:ext>
            </a:extLst>
          </p:cNvPr>
          <p:cNvSpPr txBox="1"/>
          <p:nvPr/>
        </p:nvSpPr>
        <p:spPr>
          <a:xfrm>
            <a:off x="9354372" y="3845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C4F6B2-792C-46E9-8A11-50E91ABDD323}"/>
              </a:ext>
            </a:extLst>
          </p:cNvPr>
          <p:cNvCxnSpPr>
            <a:cxnSpLocks/>
          </p:cNvCxnSpPr>
          <p:nvPr/>
        </p:nvCxnSpPr>
        <p:spPr>
          <a:xfrm>
            <a:off x="6524797" y="4587407"/>
            <a:ext cx="35748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74A5B6-FA29-4D12-80F4-BF42B97C5875}"/>
              </a:ext>
            </a:extLst>
          </p:cNvPr>
          <p:cNvSpPr txBox="1"/>
          <p:nvPr/>
        </p:nvSpPr>
        <p:spPr>
          <a:xfrm>
            <a:off x="8510645" y="4646988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rgbClr val="FF0000"/>
                </a:solidFill>
              </a:rPr>
              <a:t>3462 kJ</a:t>
            </a:r>
            <a:endParaRPr lang="en-GB" sz="2800" u="sng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67F0B9-C442-4E1C-99AF-A6487E0942D6}"/>
              </a:ext>
            </a:extLst>
          </p:cNvPr>
          <p:cNvSpPr txBox="1"/>
          <p:nvPr/>
        </p:nvSpPr>
        <p:spPr>
          <a:xfrm>
            <a:off x="2488663" y="5930991"/>
            <a:ext cx="7031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chemeClr val="accent6">
                    <a:lumMod val="75000"/>
                  </a:schemeClr>
                </a:solidFill>
              </a:rPr>
              <a:t>Reactants minus products = </a:t>
            </a:r>
            <a:r>
              <a:rPr lang="en-GB" sz="2400">
                <a:solidFill>
                  <a:schemeClr val="accent6">
                    <a:lumMod val="75000"/>
                  </a:schemeClr>
                </a:solidFill>
              </a:rPr>
              <a:t>2642 – 3462 =  </a:t>
            </a:r>
            <a:r>
              <a:rPr lang="en-GB" sz="3200" b="1" u="sng">
                <a:solidFill>
                  <a:schemeClr val="accent6">
                    <a:lumMod val="75000"/>
                  </a:schemeClr>
                </a:solidFill>
              </a:rPr>
              <a:t>- 820 kJ </a:t>
            </a:r>
            <a:endParaRPr lang="en-GB" sz="2400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C4E493-5F85-4374-9824-AB91BE1782EF}"/>
              </a:ext>
            </a:extLst>
          </p:cNvPr>
          <p:cNvSpPr txBox="1"/>
          <p:nvPr/>
        </p:nvSpPr>
        <p:spPr>
          <a:xfrm>
            <a:off x="374148" y="807789"/>
            <a:ext cx="62307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Methane combusts when reacted with oxygen to produce carbon dioxide and water – </a:t>
            </a:r>
            <a:r>
              <a:rPr lang="en-GB" sz="1600"/>
              <a:t>Values changed from original </a:t>
            </a:r>
            <a:br>
              <a:rPr lang="en-GB" sz="1600"/>
            </a:br>
            <a:r>
              <a:rPr lang="en-GB" sz="1600"/>
              <a:t>example so can be used as further practice!</a:t>
            </a:r>
          </a:p>
          <a:p>
            <a:r>
              <a:rPr lang="en-GB"/>
              <a:t>a) Calculate the overall energy change for this reaction. 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5FF970B-6D44-4334-ABA9-570389FFF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16889"/>
              </p:ext>
            </p:extLst>
          </p:nvPr>
        </p:nvGraphicFramePr>
        <p:xfrm>
          <a:off x="6062764" y="808878"/>
          <a:ext cx="5977083" cy="774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375">
                  <a:extLst>
                    <a:ext uri="{9D8B030D-6E8A-4147-A177-3AD203B41FA5}">
                      <a16:colId xmlns:a16="http://schemas.microsoft.com/office/drawing/2014/main" val="4201691975"/>
                    </a:ext>
                  </a:extLst>
                </a:gridCol>
                <a:gridCol w="1146177">
                  <a:extLst>
                    <a:ext uri="{9D8B030D-6E8A-4147-A177-3AD203B41FA5}">
                      <a16:colId xmlns:a16="http://schemas.microsoft.com/office/drawing/2014/main" val="464177362"/>
                    </a:ext>
                  </a:extLst>
                </a:gridCol>
                <a:gridCol w="1146177">
                  <a:extLst>
                    <a:ext uri="{9D8B030D-6E8A-4147-A177-3AD203B41FA5}">
                      <a16:colId xmlns:a16="http://schemas.microsoft.com/office/drawing/2014/main" val="1691903672"/>
                    </a:ext>
                  </a:extLst>
                </a:gridCol>
                <a:gridCol w="1146177">
                  <a:extLst>
                    <a:ext uri="{9D8B030D-6E8A-4147-A177-3AD203B41FA5}">
                      <a16:colId xmlns:a16="http://schemas.microsoft.com/office/drawing/2014/main" val="3230746774"/>
                    </a:ext>
                  </a:extLst>
                </a:gridCol>
                <a:gridCol w="1146177">
                  <a:extLst>
                    <a:ext uri="{9D8B030D-6E8A-4147-A177-3AD203B41FA5}">
                      <a16:colId xmlns:a16="http://schemas.microsoft.com/office/drawing/2014/main" val="545026004"/>
                    </a:ext>
                  </a:extLst>
                </a:gridCol>
              </a:tblGrid>
              <a:tr h="398476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O=O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O-H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C=O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92540"/>
                  </a:ext>
                </a:extLst>
              </a:tr>
              <a:tr h="375997">
                <a:tc>
                  <a:txBody>
                    <a:bodyPr/>
                    <a:lstStyle/>
                    <a:p>
                      <a:r>
                        <a:rPr lang="en-GB" b="1">
                          <a:solidFill>
                            <a:schemeClr val="tx1"/>
                          </a:solidFill>
                        </a:rPr>
                        <a:t>Energy / kJ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803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603059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8422CB92-F84C-4D1D-AEE1-9F92449AD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18" y="2008118"/>
            <a:ext cx="6506560" cy="123644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CF0BE-7294-4AC6-BD90-F03E863A9749}"/>
              </a:ext>
            </a:extLst>
          </p:cNvPr>
          <p:cNvCxnSpPr>
            <a:cxnSpLocks/>
          </p:cNvCxnSpPr>
          <p:nvPr/>
        </p:nvCxnSpPr>
        <p:spPr>
          <a:xfrm>
            <a:off x="6288258" y="2180492"/>
            <a:ext cx="0" cy="350864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18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8545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GB" sz="4000"/>
              <a:t>Self Assess – Bond energy calculations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278" y="58723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/>
              <a:t>C/W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9B5EFD-C0F8-432E-A75D-8525CCD1F59E}"/>
              </a:ext>
            </a:extLst>
          </p:cNvPr>
          <p:cNvSpPr txBox="1"/>
          <p:nvPr/>
        </p:nvSpPr>
        <p:spPr>
          <a:xfrm>
            <a:off x="708152" y="3171227"/>
            <a:ext cx="1613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Bonds broken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609A55-C4CC-4F38-BA4E-DD562F6525A3}"/>
              </a:ext>
            </a:extLst>
          </p:cNvPr>
          <p:cNvSpPr txBox="1"/>
          <p:nvPr/>
        </p:nvSpPr>
        <p:spPr>
          <a:xfrm>
            <a:off x="708152" y="3625008"/>
            <a:ext cx="293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12 x C-H </a:t>
            </a:r>
            <a:r>
              <a:rPr lang="en-GB" sz="2000">
                <a:solidFill>
                  <a:schemeClr val="accent1"/>
                </a:solidFill>
              </a:rPr>
              <a:t>= 12 x 412 = </a:t>
            </a:r>
            <a:r>
              <a:rPr lang="en-GB" sz="2000" u="sng">
                <a:solidFill>
                  <a:schemeClr val="accent1"/>
                </a:solidFill>
              </a:rPr>
              <a:t>4944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61C0F-1B39-45DF-8178-31D639176F28}"/>
              </a:ext>
            </a:extLst>
          </p:cNvPr>
          <p:cNvSpPr txBox="1"/>
          <p:nvPr/>
        </p:nvSpPr>
        <p:spPr>
          <a:xfrm>
            <a:off x="708152" y="4078789"/>
            <a:ext cx="2521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2 x C-C </a:t>
            </a:r>
            <a:r>
              <a:rPr lang="en-GB" sz="2000">
                <a:solidFill>
                  <a:schemeClr val="accent1"/>
                </a:solidFill>
              </a:rPr>
              <a:t>= 2 x 348 = </a:t>
            </a:r>
            <a:r>
              <a:rPr lang="en-GB" sz="2000" u="sng">
                <a:solidFill>
                  <a:schemeClr val="accent1"/>
                </a:solidFill>
              </a:rPr>
              <a:t>696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7552B-0EE7-475A-8CD0-301D51008D0A}"/>
              </a:ext>
            </a:extLst>
          </p:cNvPr>
          <p:cNvSpPr txBox="1"/>
          <p:nvPr/>
        </p:nvSpPr>
        <p:spPr>
          <a:xfrm>
            <a:off x="708152" y="4532570"/>
            <a:ext cx="2832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</a:rPr>
              <a:t>7 x O=O  </a:t>
            </a:r>
            <a:r>
              <a:rPr lang="en-GB" sz="2000">
                <a:solidFill>
                  <a:schemeClr val="accent1"/>
                </a:solidFill>
              </a:rPr>
              <a:t>= 7 x 497 = </a:t>
            </a:r>
            <a:r>
              <a:rPr lang="en-GB" sz="2000" u="sng">
                <a:solidFill>
                  <a:schemeClr val="accent1"/>
                </a:solidFill>
              </a:rPr>
              <a:t>3479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AFEBE8-BE7A-4FD1-BA17-15041754C98C}"/>
              </a:ext>
            </a:extLst>
          </p:cNvPr>
          <p:cNvSpPr txBox="1"/>
          <p:nvPr/>
        </p:nvSpPr>
        <p:spPr>
          <a:xfrm>
            <a:off x="3578926" y="38250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401B37-4118-4ABD-8749-6FE3ED008C7A}"/>
              </a:ext>
            </a:extLst>
          </p:cNvPr>
          <p:cNvSpPr txBox="1"/>
          <p:nvPr/>
        </p:nvSpPr>
        <p:spPr>
          <a:xfrm>
            <a:off x="3578926" y="43325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B05687-DBC3-4D2C-9B1D-4476728656C5}"/>
              </a:ext>
            </a:extLst>
          </p:cNvPr>
          <p:cNvCxnSpPr>
            <a:cxnSpLocks/>
          </p:cNvCxnSpPr>
          <p:nvPr/>
        </p:nvCxnSpPr>
        <p:spPr>
          <a:xfrm>
            <a:off x="790273" y="5053815"/>
            <a:ext cx="357484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3F49DD7-AB79-4EE5-BF6E-CF8F22C1B94E}"/>
              </a:ext>
            </a:extLst>
          </p:cNvPr>
          <p:cNvSpPr txBox="1"/>
          <p:nvPr/>
        </p:nvSpPr>
        <p:spPr>
          <a:xfrm>
            <a:off x="2776121" y="5113396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chemeClr val="accent1"/>
                </a:solidFill>
              </a:rPr>
              <a:t>9119 kJ</a:t>
            </a:r>
            <a:endParaRPr lang="en-GB" sz="2800" u="sng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E75E22-6360-443A-B00C-EE6EA0AAF4A4}"/>
              </a:ext>
            </a:extLst>
          </p:cNvPr>
          <p:cNvSpPr txBox="1"/>
          <p:nvPr/>
        </p:nvSpPr>
        <p:spPr>
          <a:xfrm>
            <a:off x="6483598" y="3191914"/>
            <a:ext cx="1478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Bonds made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B078F8-925C-4BC1-89E3-C74411F5E9DD}"/>
              </a:ext>
            </a:extLst>
          </p:cNvPr>
          <p:cNvSpPr txBox="1"/>
          <p:nvPr/>
        </p:nvSpPr>
        <p:spPr>
          <a:xfrm>
            <a:off x="6483598" y="3645695"/>
            <a:ext cx="2738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8 x C=O </a:t>
            </a:r>
            <a:r>
              <a:rPr lang="en-GB" sz="2000">
                <a:solidFill>
                  <a:srgbClr val="FF0000"/>
                </a:solidFill>
              </a:rPr>
              <a:t>= 8 x 803 = </a:t>
            </a:r>
            <a:r>
              <a:rPr lang="en-GB" sz="2000" u="sng">
                <a:solidFill>
                  <a:srgbClr val="FF0000"/>
                </a:solidFill>
              </a:rPr>
              <a:t>6424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191CE7-BEDE-4369-B449-2DCEB7624284}"/>
              </a:ext>
            </a:extLst>
          </p:cNvPr>
          <p:cNvSpPr txBox="1"/>
          <p:nvPr/>
        </p:nvSpPr>
        <p:spPr>
          <a:xfrm>
            <a:off x="6483598" y="4099476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</a:rPr>
              <a:t>12 x O-H </a:t>
            </a:r>
            <a:r>
              <a:rPr lang="en-GB" sz="2000">
                <a:solidFill>
                  <a:srgbClr val="FF0000"/>
                </a:solidFill>
              </a:rPr>
              <a:t>= 12 x 464 = </a:t>
            </a:r>
            <a:r>
              <a:rPr lang="en-GB" sz="2000" u="sng">
                <a:solidFill>
                  <a:srgbClr val="FF0000"/>
                </a:solidFill>
              </a:rPr>
              <a:t>5568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FCF76E-48A9-4F36-80B9-A349D25D6766}"/>
              </a:ext>
            </a:extLst>
          </p:cNvPr>
          <p:cNvSpPr txBox="1"/>
          <p:nvPr/>
        </p:nvSpPr>
        <p:spPr>
          <a:xfrm>
            <a:off x="9354372" y="38457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C4F6B2-792C-46E9-8A11-50E91ABDD323}"/>
              </a:ext>
            </a:extLst>
          </p:cNvPr>
          <p:cNvCxnSpPr>
            <a:cxnSpLocks/>
          </p:cNvCxnSpPr>
          <p:nvPr/>
        </p:nvCxnSpPr>
        <p:spPr>
          <a:xfrm>
            <a:off x="6570408" y="4601789"/>
            <a:ext cx="35748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74A5B6-FA29-4D12-80F4-BF42B97C5875}"/>
              </a:ext>
            </a:extLst>
          </p:cNvPr>
          <p:cNvSpPr txBox="1"/>
          <p:nvPr/>
        </p:nvSpPr>
        <p:spPr>
          <a:xfrm>
            <a:off x="8556256" y="4661370"/>
            <a:ext cx="1471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>
                <a:solidFill>
                  <a:srgbClr val="FF0000"/>
                </a:solidFill>
              </a:rPr>
              <a:t>11992 kJ</a:t>
            </a:r>
            <a:endParaRPr lang="en-GB" sz="2800" u="sng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67F0B9-C442-4E1C-99AF-A6487E0942D6}"/>
              </a:ext>
            </a:extLst>
          </p:cNvPr>
          <p:cNvSpPr txBox="1"/>
          <p:nvPr/>
        </p:nvSpPr>
        <p:spPr>
          <a:xfrm>
            <a:off x="2488663" y="5930991"/>
            <a:ext cx="7395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>
                <a:solidFill>
                  <a:schemeClr val="accent6">
                    <a:lumMod val="75000"/>
                  </a:schemeClr>
                </a:solidFill>
              </a:rPr>
              <a:t>Reactants minus products = </a:t>
            </a:r>
            <a:r>
              <a:rPr lang="en-GB" sz="2400">
                <a:solidFill>
                  <a:schemeClr val="accent6">
                    <a:lumMod val="75000"/>
                  </a:schemeClr>
                </a:solidFill>
              </a:rPr>
              <a:t>9119 – 11992 =  </a:t>
            </a:r>
            <a:r>
              <a:rPr lang="en-GB" sz="3200" b="1" u="sng">
                <a:solidFill>
                  <a:schemeClr val="accent6">
                    <a:lumMod val="75000"/>
                  </a:schemeClr>
                </a:solidFill>
              </a:rPr>
              <a:t>- 2873 kJ </a:t>
            </a:r>
            <a:endParaRPr lang="en-GB" sz="2400" b="1" u="sn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2B3D0-C8EE-4F1D-A6E4-2ED1AFD2C627}"/>
              </a:ext>
            </a:extLst>
          </p:cNvPr>
          <p:cNvSpPr txBox="1"/>
          <p:nvPr/>
        </p:nvSpPr>
        <p:spPr>
          <a:xfrm>
            <a:off x="374148" y="807789"/>
            <a:ext cx="6230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Ethane combusts when reacted with oxygen to produce carbon dioxide and water.</a:t>
            </a:r>
          </a:p>
          <a:p>
            <a:br>
              <a:rPr lang="en-GB"/>
            </a:br>
            <a:r>
              <a:rPr lang="en-GB"/>
              <a:t>a) Calculate the overall energy change for this reaction. 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112B43E-BB34-4590-A139-CF031E0F3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539111"/>
              </p:ext>
            </p:extLst>
          </p:nvPr>
        </p:nvGraphicFramePr>
        <p:xfrm>
          <a:off x="6562449" y="802445"/>
          <a:ext cx="5498344" cy="1038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754">
                  <a:extLst>
                    <a:ext uri="{9D8B030D-6E8A-4147-A177-3AD203B41FA5}">
                      <a16:colId xmlns:a16="http://schemas.microsoft.com/office/drawing/2014/main" val="4201691975"/>
                    </a:ext>
                  </a:extLst>
                </a:gridCol>
                <a:gridCol w="884718">
                  <a:extLst>
                    <a:ext uri="{9D8B030D-6E8A-4147-A177-3AD203B41FA5}">
                      <a16:colId xmlns:a16="http://schemas.microsoft.com/office/drawing/2014/main" val="464177362"/>
                    </a:ext>
                  </a:extLst>
                </a:gridCol>
                <a:gridCol w="884718">
                  <a:extLst>
                    <a:ext uri="{9D8B030D-6E8A-4147-A177-3AD203B41FA5}">
                      <a16:colId xmlns:a16="http://schemas.microsoft.com/office/drawing/2014/main" val="41827226"/>
                    </a:ext>
                  </a:extLst>
                </a:gridCol>
                <a:gridCol w="884718">
                  <a:extLst>
                    <a:ext uri="{9D8B030D-6E8A-4147-A177-3AD203B41FA5}">
                      <a16:colId xmlns:a16="http://schemas.microsoft.com/office/drawing/2014/main" val="1691903672"/>
                    </a:ext>
                  </a:extLst>
                </a:gridCol>
                <a:gridCol w="884718">
                  <a:extLst>
                    <a:ext uri="{9D8B030D-6E8A-4147-A177-3AD203B41FA5}">
                      <a16:colId xmlns:a16="http://schemas.microsoft.com/office/drawing/2014/main" val="3230746774"/>
                    </a:ext>
                  </a:extLst>
                </a:gridCol>
                <a:gridCol w="884718">
                  <a:extLst>
                    <a:ext uri="{9D8B030D-6E8A-4147-A177-3AD203B41FA5}">
                      <a16:colId xmlns:a16="http://schemas.microsoft.com/office/drawing/2014/main" val="545026004"/>
                    </a:ext>
                  </a:extLst>
                </a:gridCol>
              </a:tblGrid>
              <a:tr h="398476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1"/>
                          </a:solidFill>
                        </a:rPr>
                        <a:t>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C-C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O=O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O-H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C=O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92540"/>
                  </a:ext>
                </a:extLst>
              </a:tr>
              <a:tr h="375997">
                <a:tc>
                  <a:txBody>
                    <a:bodyPr/>
                    <a:lstStyle/>
                    <a:p>
                      <a:r>
                        <a:rPr lang="en-GB" b="1">
                          <a:solidFill>
                            <a:schemeClr val="tx1"/>
                          </a:solidFill>
                        </a:rPr>
                        <a:t>Energy / kJ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348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464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tx1"/>
                          </a:solidFill>
                        </a:rPr>
                        <a:t>803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603059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7BC59CDA-0F44-4A18-8314-49950D9E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21" y="1998547"/>
            <a:ext cx="7213415" cy="115036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CF0BE-7294-4AC6-BD90-F03E863A9749}"/>
              </a:ext>
            </a:extLst>
          </p:cNvPr>
          <p:cNvCxnSpPr>
            <a:cxnSpLocks/>
          </p:cNvCxnSpPr>
          <p:nvPr/>
        </p:nvCxnSpPr>
        <p:spPr>
          <a:xfrm>
            <a:off x="6288258" y="2180492"/>
            <a:ext cx="0" cy="3508648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02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88545"/>
          </a:xfrm>
          <a:solidFill>
            <a:schemeClr val="accent6"/>
          </a:solidFill>
        </p:spPr>
        <p:txBody>
          <a:bodyPr>
            <a:noAutofit/>
          </a:bodyPr>
          <a:lstStyle/>
          <a:p>
            <a:r>
              <a:rPr lang="en-GB" sz="4000"/>
              <a:t>Self Assess – Follow up Q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099646" y="0"/>
            <a:ext cx="2092354" cy="365125"/>
          </a:xfrm>
        </p:spPr>
        <p:txBody>
          <a:bodyPr/>
          <a:lstStyle/>
          <a:p>
            <a:fld id="{C28B3119-EC8A-4E17-AE22-7BFAC23D2FE5}" type="datetime2">
              <a:rPr lang="en-GB" sz="1400" b="1" u="sng" smtClean="0">
                <a:solidFill>
                  <a:schemeClr val="tx1"/>
                </a:solidFill>
              </a:rPr>
              <a:t>Monday, 20 April 2026</a:t>
            </a:fld>
            <a:endParaRPr lang="en-GB" sz="1400" b="1" u="sng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C86D7-D977-44C4-AA02-7574FA4CBA44}"/>
              </a:ext>
            </a:extLst>
          </p:cNvPr>
          <p:cNvSpPr txBox="1"/>
          <p:nvPr/>
        </p:nvSpPr>
        <p:spPr>
          <a:xfrm>
            <a:off x="476380" y="909823"/>
            <a:ext cx="8539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/>
              <a:t>b) Explain why this reaction is overall endothermic or exothermic, in terms for bonds broken and bonds formed.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0E37D-F9B2-430B-BF57-D6DAF7D64FF4}"/>
              </a:ext>
            </a:extLst>
          </p:cNvPr>
          <p:cNvSpPr txBox="1"/>
          <p:nvPr/>
        </p:nvSpPr>
        <p:spPr>
          <a:xfrm>
            <a:off x="2201180" y="2217731"/>
            <a:ext cx="8243282" cy="255698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All reactions were </a:t>
            </a:r>
            <a:r>
              <a:rPr lang="en-GB" sz="2800" b="1">
                <a:solidFill>
                  <a:schemeClr val="accent6">
                    <a:lumMod val="75000"/>
                  </a:schemeClr>
                </a:solidFill>
              </a:rPr>
              <a:t>exothermic</a:t>
            </a: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 because: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Overall, more energy is </a:t>
            </a:r>
            <a:r>
              <a:rPr lang="en-GB" sz="2800" u="sng">
                <a:solidFill>
                  <a:schemeClr val="accent6">
                    <a:lumMod val="75000"/>
                  </a:schemeClr>
                </a:solidFill>
              </a:rPr>
              <a:t>released</a:t>
            </a: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 during </a:t>
            </a:r>
            <a:r>
              <a:rPr lang="en-GB" sz="2800" u="sng">
                <a:solidFill>
                  <a:schemeClr val="accent6">
                    <a:lumMod val="75000"/>
                  </a:schemeClr>
                </a:solidFill>
              </a:rPr>
              <a:t>bond making</a:t>
            </a: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en-GB" sz="2800">
              <a:solidFill>
                <a:schemeClr val="accent6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Than was </a:t>
            </a:r>
            <a:r>
              <a:rPr lang="en-GB" sz="2800" u="sng">
                <a:solidFill>
                  <a:schemeClr val="accent6">
                    <a:lumMod val="75000"/>
                  </a:schemeClr>
                </a:solidFill>
              </a:rPr>
              <a:t>taken in</a:t>
            </a: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 during </a:t>
            </a:r>
            <a:r>
              <a:rPr lang="en-GB" sz="2800" u="sng">
                <a:solidFill>
                  <a:schemeClr val="accent6">
                    <a:lumMod val="75000"/>
                  </a:schemeClr>
                </a:solidFill>
              </a:rPr>
              <a:t>bond breaking</a:t>
            </a:r>
            <a:r>
              <a:rPr lang="en-GB" sz="280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en-GB" sz="2800">
              <a:solidFill>
                <a:schemeClr val="accent6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021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cf76a84c-fc9c-4cb3-9b5b-9e13d09f9b4f" xsi:nil="true"/>
    <LMS_Mappings xmlns="cf76a84c-fc9c-4cb3-9b5b-9e13d09f9b4f" xsi:nil="true"/>
    <DefaultSectionNames xmlns="cf76a84c-fc9c-4cb3-9b5b-9e13d09f9b4f" xsi:nil="true"/>
    <Invited_Members xmlns="cf76a84c-fc9c-4cb3-9b5b-9e13d09f9b4f" xsi:nil="true"/>
    <Members xmlns="cf76a84c-fc9c-4cb3-9b5b-9e13d09f9b4f">
      <UserInfo>
        <DisplayName/>
        <AccountId xsi:nil="true"/>
        <AccountType/>
      </UserInfo>
    </Members>
    <Member_Groups xmlns="cf76a84c-fc9c-4cb3-9b5b-9e13d09f9b4f">
      <UserInfo>
        <DisplayName/>
        <AccountId xsi:nil="true"/>
        <AccountType/>
      </UserInfo>
    </Member_Groups>
    <FolderType xmlns="cf76a84c-fc9c-4cb3-9b5b-9e13d09f9b4f" xsi:nil="true"/>
    <Is_Collaboration_Space_Locked xmlns="cf76a84c-fc9c-4cb3-9b5b-9e13d09f9b4f" xsi:nil="true"/>
    <Self_Registration_Enabled xmlns="cf76a84c-fc9c-4cb3-9b5b-9e13d09f9b4f" xsi:nil="true"/>
    <Has_Leaders_Only_SectionGroup xmlns="cf76a84c-fc9c-4cb3-9b5b-9e13d09f9b4f" xsi:nil="true"/>
    <Templates xmlns="cf76a84c-fc9c-4cb3-9b5b-9e13d09f9b4f" xsi:nil="true"/>
    <CultureName xmlns="cf76a84c-fc9c-4cb3-9b5b-9e13d09f9b4f" xsi:nil="true"/>
    <TeamsChannelId xmlns="cf76a84c-fc9c-4cb3-9b5b-9e13d09f9b4f" xsi:nil="true"/>
    <Invited_Leaders xmlns="cf76a84c-fc9c-4cb3-9b5b-9e13d09f9b4f" xsi:nil="true"/>
    <NotebookType xmlns="cf76a84c-fc9c-4cb3-9b5b-9e13d09f9b4f" xsi:nil="true"/>
    <Leaders xmlns="cf76a84c-fc9c-4cb3-9b5b-9e13d09f9b4f">
      <UserInfo>
        <DisplayName/>
        <AccountId xsi:nil="true"/>
        <AccountType/>
      </UserInfo>
    </Leaders>
    <IsNotebookLocked xmlns="cf76a84c-fc9c-4cb3-9b5b-9e13d09f9b4f" xsi:nil="true"/>
    <Math_Settings xmlns="cf76a84c-fc9c-4cb3-9b5b-9e13d09f9b4f" xsi:nil="true"/>
    <Owner xmlns="cf76a84c-fc9c-4cb3-9b5b-9e13d09f9b4f">
      <UserInfo>
        <DisplayName/>
        <AccountId xsi:nil="true"/>
        <AccountType/>
      </UserInfo>
    </Owner>
    <Distribution_Groups xmlns="cf76a84c-fc9c-4cb3-9b5b-9e13d09f9b4f" xsi:nil="true"/>
    <TaxCatchAll xmlns="82fbd658-6e5d-49dc-a669-e20183706317" xsi:nil="true"/>
    <lcf76f155ced4ddcb4097134ff3c332f xmlns="cf76a84c-fc9c-4cb3-9b5b-9e13d09f9b4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F6AAC255767C448D78C1A2FC94665D" ma:contentTypeVersion="38" ma:contentTypeDescription="Create a new document." ma:contentTypeScope="" ma:versionID="d566d10c17df7aa3854b280f3deefc7f">
  <xsd:schema xmlns:xsd="http://www.w3.org/2001/XMLSchema" xmlns:xs="http://www.w3.org/2001/XMLSchema" xmlns:p="http://schemas.microsoft.com/office/2006/metadata/properties" xmlns:ns2="cf76a84c-fc9c-4cb3-9b5b-9e13d09f9b4f" xmlns:ns3="82fbd658-6e5d-49dc-a669-e20183706317" targetNamespace="http://schemas.microsoft.com/office/2006/metadata/properties" ma:root="true" ma:fieldsID="6c56001105ab98524a62eab3abc08f6a" ns2:_="" ns3:_="">
    <xsd:import namespace="cf76a84c-fc9c-4cb3-9b5b-9e13d09f9b4f"/>
    <xsd:import namespace="82fbd658-6e5d-49dc-a669-e2018370631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76a84c-fc9c-4cb3-9b5b-9e13d09f9b4f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Location" ma:index="32" nillable="true" ma:displayName="Location" ma:internalName="MediaServiceLocation" ma:readOnly="true">
      <xsd:simpleType>
        <xsd:restriction base="dms:Text"/>
      </xsd:simpleType>
    </xsd:element>
    <xsd:element name="MediaServiceOCR" ma:index="3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4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2" nillable="true" ma:taxonomy="true" ma:internalName="lcf76f155ced4ddcb4097134ff3c332f" ma:taxonomyFieldName="MediaServiceImageTags" ma:displayName="Image Tags" ma:readOnly="false" ma:fieldId="{5cf76f15-5ced-4ddc-b409-7134ff3c332f}" ma:taxonomyMulti="true" ma:sspId="2e7372bd-37cf-42a6-b1be-3e65a971c9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fbd658-6e5d-49dc-a669-e20183706317" elementFormDefault="qualified">
    <xsd:import namespace="http://schemas.microsoft.com/office/2006/documentManagement/types"/>
    <xsd:import namespace="http://schemas.microsoft.com/office/infopath/2007/PartnerControls"/>
    <xsd:element name="SharedWithUsers" ma:index="3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3" nillable="true" ma:displayName="Taxonomy Catch All Column" ma:hidden="true" ma:list="{4a732882-e7d4-4af0-93cb-334a004053d8}" ma:internalName="TaxCatchAll" ma:showField="CatchAllData" ma:web="82fbd658-6e5d-49dc-a669-e201837063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DEC2E-89A8-43FA-B8CE-B89DB069DE06}">
  <ds:schemaRefs>
    <ds:schemaRef ds:uri="82fbd658-6e5d-49dc-a669-e20183706317"/>
    <ds:schemaRef ds:uri="cf76a84c-fc9c-4cb3-9b5b-9e13d09f9b4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81B6F66-3B62-40FA-8F20-619602D34C1B}">
  <ds:schemaRefs>
    <ds:schemaRef ds:uri="82fbd658-6e5d-49dc-a669-e20183706317"/>
    <ds:schemaRef ds:uri="cf76a84c-fc9c-4cb3-9b5b-9e13d09f9b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87B537-6EF4-4AA3-AA5F-C93FA56C1E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Widescreen</PresentationFormat>
  <Paragraphs>315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Avenir</vt:lpstr>
      <vt:lpstr>Calibri</vt:lpstr>
      <vt:lpstr>Calibri Light</vt:lpstr>
      <vt:lpstr>Wingdings</vt:lpstr>
      <vt:lpstr>Office Theme</vt:lpstr>
      <vt:lpstr>The Energy Change of Reactions &amp; bonds Tuesday 21st April 2026 </vt:lpstr>
      <vt:lpstr>PowerPoint Presentation</vt:lpstr>
      <vt:lpstr>The Energy Change of Reactions</vt:lpstr>
      <vt:lpstr> </vt:lpstr>
      <vt:lpstr> </vt:lpstr>
      <vt:lpstr> </vt:lpstr>
      <vt:lpstr>Bond Energy</vt:lpstr>
      <vt:lpstr> </vt:lpstr>
      <vt:lpstr> </vt:lpstr>
      <vt:lpstr>PowerPoint Presentation</vt:lpstr>
      <vt:lpstr>Calculate the energy change in the reaction</vt:lpstr>
      <vt:lpstr>PowerPoint Presentation</vt:lpstr>
      <vt:lpstr>Task: Complete Bond Energy Calculations</vt:lpstr>
      <vt:lpstr>Self Assess – Bond energy calculations 1</vt:lpstr>
      <vt:lpstr>Self Assess – Bond energy calculations 2</vt:lpstr>
      <vt:lpstr>Self Assess – Bond energy calculations 3</vt:lpstr>
      <vt:lpstr>Self Assess – Bond energy calculations 4</vt:lpstr>
      <vt:lpstr>Self Assess – Follow up 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Energy Change of Reactions</dc:title>
  <dc:creator>Lewis Tull</dc:creator>
  <cp:lastModifiedBy>Mrs P Rahman</cp:lastModifiedBy>
  <cp:revision>2</cp:revision>
  <dcterms:created xsi:type="dcterms:W3CDTF">2017-01-09T19:04:22Z</dcterms:created>
  <dcterms:modified xsi:type="dcterms:W3CDTF">2026-04-20T08:42:30Z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0x0101001DF6AAC255767C448D78C1A2FC94665D</vt:lpwstr>
  </property>
</Properties>
</file>