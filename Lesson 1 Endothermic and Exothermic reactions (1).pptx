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  <p:sldMasterId id="2147483674" r:id="rId3"/>
    <p:sldMasterId id="2147483686" r:id="rId4"/>
    <p:sldMasterId id="2147483698" r:id="rId5"/>
    <p:sldMasterId id="2147483710" r:id="rId6"/>
  </p:sldMasterIdLst>
  <p:notesMasterIdLst>
    <p:notesMasterId r:id="rId4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gWHytpdmse/3d8LZONA3d4bmIc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B92FA8A-0E52-4D5E-9129-64958D5265CA}">
  <a:tblStyle styleId="{7B92FA8A-0E52-4D5E-9129-64958D5265C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8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customschemas.google.com/relationships/presentationmetadata" Target="metadata"/><Relationship Id="rId20" Type="http://schemas.openxmlformats.org/officeDocument/2006/relationships/slide" Target="slides/slide14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e33294cefc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2e33294cefc_0_1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g2e33294cefc_0_1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1317e272c5d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1317e272c5d_0_2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g1317e272c5d_0_2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131e78138e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131e78138e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g131e78138e5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2e33294cefc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58" name="Google Shape;458;g2e33294cefc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1317e272c5d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1317e272c5d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317e272c5d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6" name="Google Shape;476;g1317e272c5d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1317e272c5d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1317e272c5d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1303427131d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1303427131d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g1303427131d_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1303427131d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1303427131d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g1303427131d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1303427131d_2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0" name="Google Shape;530;g1303427131d_2_1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hand warmer, burning fuels, </a:t>
            </a:r>
            <a:endParaRPr/>
          </a:p>
        </p:txBody>
      </p:sp>
      <p:sp>
        <p:nvSpPr>
          <p:cNvPr id="531" name="Google Shape;531;g1303427131d_2_1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1303427131d_2_1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g1303427131d_2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1303427131d_2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7" name="Google Shape;547;g1303427131d_2_1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hand warmer, burning fuels, </a:t>
            </a:r>
            <a:endParaRPr/>
          </a:p>
        </p:txBody>
      </p:sp>
      <p:sp>
        <p:nvSpPr>
          <p:cNvPr id="548" name="Google Shape;548;g1303427131d_2_1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cracking, fractional distillation, thermal decomposition.</a:t>
            </a:r>
            <a:endParaRPr/>
          </a:p>
        </p:txBody>
      </p:sp>
      <p:sp>
        <p:nvSpPr>
          <p:cNvPr id="562" name="Google Shape;56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0" name="Google Shape;57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cracking, fractional distillation, thermal decomposition.</a:t>
            </a:r>
            <a:endParaRPr/>
          </a:p>
        </p:txBody>
      </p:sp>
      <p:sp>
        <p:nvSpPr>
          <p:cNvPr id="571" name="Google Shape;57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5" name="Google Shape;58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hand warmer, burning fuels, </a:t>
            </a:r>
            <a:endParaRPr/>
          </a:p>
        </p:txBody>
      </p:sp>
      <p:sp>
        <p:nvSpPr>
          <p:cNvPr id="586" name="Google Shape;58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1317e272c5d_0_425:notes"/>
          <p:cNvSpPr txBox="1">
            <a:spLocks noGrp="1"/>
          </p:cNvSpPr>
          <p:nvPr>
            <p:ph type="body" idx="1"/>
          </p:nvPr>
        </p:nvSpPr>
        <p:spPr>
          <a:xfrm>
            <a:off x="685802" y="4343406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g1317e272c5d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1317e272e51_0_0:notes"/>
          <p:cNvSpPr txBox="1">
            <a:spLocks noGrp="1"/>
          </p:cNvSpPr>
          <p:nvPr>
            <p:ph type="body" idx="1"/>
          </p:nvPr>
        </p:nvSpPr>
        <p:spPr>
          <a:xfrm>
            <a:off x="685802" y="4343406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g1317e272e5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1317e272c5d_0_431:notes"/>
          <p:cNvSpPr txBox="1">
            <a:spLocks noGrp="1"/>
          </p:cNvSpPr>
          <p:nvPr>
            <p:ph type="body" idx="1"/>
          </p:nvPr>
        </p:nvSpPr>
        <p:spPr>
          <a:xfrm>
            <a:off x="685802" y="4343406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g1317e272c5d_0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1317e272e51_0_7:notes"/>
          <p:cNvSpPr txBox="1">
            <a:spLocks noGrp="1"/>
          </p:cNvSpPr>
          <p:nvPr>
            <p:ph type="body" idx="1"/>
          </p:nvPr>
        </p:nvSpPr>
        <p:spPr>
          <a:xfrm>
            <a:off x="685802" y="4343406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g1317e272e51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1317e272c5d_0_438:notes"/>
          <p:cNvSpPr txBox="1">
            <a:spLocks noGrp="1"/>
          </p:cNvSpPr>
          <p:nvPr>
            <p:ph type="body" idx="1"/>
          </p:nvPr>
        </p:nvSpPr>
        <p:spPr>
          <a:xfrm>
            <a:off x="685802" y="4343406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g1317e272c5d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1317e272c5d_0_449:notes"/>
          <p:cNvSpPr txBox="1">
            <a:spLocks noGrp="1"/>
          </p:cNvSpPr>
          <p:nvPr>
            <p:ph type="body" idx="1"/>
          </p:nvPr>
        </p:nvSpPr>
        <p:spPr>
          <a:xfrm>
            <a:off x="685802" y="4343406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g1317e272c5d_0_4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1317e272c5d_0_456:notes"/>
          <p:cNvSpPr txBox="1">
            <a:spLocks noGrp="1"/>
          </p:cNvSpPr>
          <p:nvPr>
            <p:ph type="body" idx="1"/>
          </p:nvPr>
        </p:nvSpPr>
        <p:spPr>
          <a:xfrm>
            <a:off x="685802" y="4343406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g1317e272c5d_0_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1317e272c5d_0_464:notes"/>
          <p:cNvSpPr txBox="1">
            <a:spLocks noGrp="1"/>
          </p:cNvSpPr>
          <p:nvPr>
            <p:ph type="body" idx="1"/>
          </p:nvPr>
        </p:nvSpPr>
        <p:spPr>
          <a:xfrm>
            <a:off x="685802" y="4343406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g1317e272c5d_0_4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1317e272c5d_0_472:notes"/>
          <p:cNvSpPr txBox="1">
            <a:spLocks noGrp="1"/>
          </p:cNvSpPr>
          <p:nvPr>
            <p:ph type="body" idx="1"/>
          </p:nvPr>
        </p:nvSpPr>
        <p:spPr>
          <a:xfrm>
            <a:off x="685802" y="4343406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g1317e272c5d_0_4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1317e272c5d_0_479:notes"/>
          <p:cNvSpPr txBox="1">
            <a:spLocks noGrp="1"/>
          </p:cNvSpPr>
          <p:nvPr>
            <p:ph type="body" idx="1"/>
          </p:nvPr>
        </p:nvSpPr>
        <p:spPr>
          <a:xfrm>
            <a:off x="685802" y="4343406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g1317e272c5d_0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1317e272c5d_0_488:notes"/>
          <p:cNvSpPr txBox="1">
            <a:spLocks noGrp="1"/>
          </p:cNvSpPr>
          <p:nvPr>
            <p:ph type="body" idx="1"/>
          </p:nvPr>
        </p:nvSpPr>
        <p:spPr>
          <a:xfrm>
            <a:off x="685802" y="4343406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g1317e272c5d_0_4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1317e272c5d_0_495:notes"/>
          <p:cNvSpPr txBox="1">
            <a:spLocks noGrp="1"/>
          </p:cNvSpPr>
          <p:nvPr>
            <p:ph type="body" idx="1"/>
          </p:nvPr>
        </p:nvSpPr>
        <p:spPr>
          <a:xfrm>
            <a:off x="685802" y="4343406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g1317e272c5d_0_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1317e272c5d_0_583:notes"/>
          <p:cNvSpPr txBox="1">
            <a:spLocks noGrp="1"/>
          </p:cNvSpPr>
          <p:nvPr>
            <p:ph type="body" idx="1"/>
          </p:nvPr>
        </p:nvSpPr>
        <p:spPr>
          <a:xfrm>
            <a:off x="685802" y="4343406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g1317e272c5d_0_5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1317e272c5d_0_500:notes"/>
          <p:cNvSpPr txBox="1">
            <a:spLocks noGrp="1"/>
          </p:cNvSpPr>
          <p:nvPr>
            <p:ph type="body" idx="1"/>
          </p:nvPr>
        </p:nvSpPr>
        <p:spPr>
          <a:xfrm>
            <a:off x="685802" y="4343406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g1317e272c5d_0_5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1303427131d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1303427131d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g1303427131d_0_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1321dd50e25_3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g1321dd50e25_3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303427131d_2_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g1303427131d_2_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g1303427131d_2_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g1303427131d_2_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g1303427131d_2_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g1303427131d_2_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303427131d_2_1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g1303427131d_2_1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g1303427131d_2_13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g1303427131d_2_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g1303427131d_2_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g1303427131d_2_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and Text" type="objAndTx">
  <p:cSld name="OBJECT_AND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303427131d_2_2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g1303427131d_2_20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g1303427131d_2_20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g1303427131d_2_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g1303427131d_2_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g1303427131d_2_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303427131d_2_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g1303427131d_2_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g1303427131d_2_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g1303427131d_2_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03427131d_2_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g1303427131d_2_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g1303427131d_2_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g1303427131d_2_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g1303427131d_2_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03427131d_2_3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g1303427131d_2_3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25" name="Google Shape;125;g1303427131d_2_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g1303427131d_2_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g1303427131d_2_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303427131d_2_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g1303427131d_2_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g1303427131d_2_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303427131d_2_4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g1303427131d_2_4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5" name="Google Shape;135;g1303427131d_2_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g1303427131d_2_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g1303427131d_2_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303427131d_2_5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g1303427131d_2_5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1" name="Google Shape;141;g1303427131d_2_5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g1303427131d_2_5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3" name="Google Shape;143;g1303427131d_2_5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g1303427131d_2_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g1303427131d_2_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g1303427131d_2_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303427131d_2_6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g1303427131d_2_6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50" name="Google Shape;150;g1303427131d_2_6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1" name="Google Shape;151;g1303427131d_2_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g1303427131d_2_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g1303427131d_2_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303427131d_2_7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g1303427131d_2_7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g1303427131d_2_7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8" name="Google Shape;158;g1303427131d_2_7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g1303427131d_2_7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g1303427131d_2_7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303427131d_2_7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g1303427131d_2_7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g1303427131d_2_7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g1303427131d_2_7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g1303427131d_2_7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303427131d_2_8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g1303427131d_2_8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g1303427131d_2_8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g1303427131d_2_8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g1303427131d_2_8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317e272c5d_0_165"/>
          <p:cNvSpPr txBox="1">
            <a:spLocks noGrp="1"/>
          </p:cNvSpPr>
          <p:nvPr>
            <p:ph type="ctrTitle"/>
          </p:nvPr>
        </p:nvSpPr>
        <p:spPr>
          <a:xfrm>
            <a:off x="914400" y="2130425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g1317e272c5d_0_165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2" name="Google Shape;182;g1317e272c5d_0_16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g1317e272c5d_0_165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g1317e272c5d_0_16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317e272c5d_0_171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g1317e272c5d_0_171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8" name="Google Shape;188;g1317e272c5d_0_17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g1317e272c5d_0_171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g1317e272c5d_0_17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317e272c5d_0_177"/>
          <p:cNvSpPr txBox="1">
            <a:spLocks noGrp="1"/>
          </p:cNvSpPr>
          <p:nvPr>
            <p:ph type="title"/>
          </p:nvPr>
        </p:nvSpPr>
        <p:spPr>
          <a:xfrm rot="5400000">
            <a:off x="7285050" y="1828788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g1317e272c5d_0_177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62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4" name="Google Shape;194;g1317e272c5d_0_17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g1317e272c5d_0_177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g1317e272c5d_0_17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317e272c5d_0_183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g1317e272c5d_0_183"/>
          <p:cNvSpPr txBox="1">
            <a:spLocks noGrp="1"/>
          </p:cNvSpPr>
          <p:nvPr>
            <p:ph type="body" idx="1"/>
          </p:nvPr>
        </p:nvSpPr>
        <p:spPr>
          <a:xfrm rot="5400000">
            <a:off x="3832950" y="-1623150"/>
            <a:ext cx="4526100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g1317e272c5d_0_18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g1317e272c5d_0_183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g1317e272c5d_0_18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317e272c5d_0_189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g1317e272c5d_0_189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g1317e272c5d_0_189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07" name="Google Shape;207;g1317e272c5d_0_18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g1317e272c5d_0_189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g1317e272c5d_0_18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317e272c5d_0_196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40113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g1317e272c5d_0_196"/>
          <p:cNvSpPr txBox="1">
            <a:spLocks noGrp="1"/>
          </p:cNvSpPr>
          <p:nvPr>
            <p:ph type="body" idx="1"/>
          </p:nvPr>
        </p:nvSpPr>
        <p:spPr>
          <a:xfrm>
            <a:off x="4766733" y="273050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13" name="Google Shape;213;g1317e272c5d_0_196"/>
          <p:cNvSpPr txBox="1">
            <a:spLocks noGrp="1"/>
          </p:cNvSpPr>
          <p:nvPr>
            <p:ph type="body" idx="2"/>
          </p:nvPr>
        </p:nvSpPr>
        <p:spPr>
          <a:xfrm>
            <a:off x="609600" y="1435100"/>
            <a:ext cx="40113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14" name="Google Shape;214;g1317e272c5d_0_19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g1317e272c5d_0_196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g1317e272c5d_0_19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317e272c5d_0_20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g1317e272c5d_0_203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g1317e272c5d_0_20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317e272c5d_0_207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g1317e272c5d_0_20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g1317e272c5d_0_207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g1317e272c5d_0_20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317e272c5d_0_212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g1317e272c5d_0_212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29" name="Google Shape;229;g1317e272c5d_0_212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30" name="Google Shape;230;g1317e272c5d_0_212"/>
          <p:cNvSpPr txBox="1">
            <a:spLocks noGrp="1"/>
          </p:cNvSpPr>
          <p:nvPr>
            <p:ph type="body" idx="3"/>
          </p:nvPr>
        </p:nvSpPr>
        <p:spPr>
          <a:xfrm>
            <a:off x="6193367" y="1535113"/>
            <a:ext cx="53892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31" name="Google Shape;231;g1317e272c5d_0_212"/>
          <p:cNvSpPr txBox="1">
            <a:spLocks noGrp="1"/>
          </p:cNvSpPr>
          <p:nvPr>
            <p:ph type="body" idx="4"/>
          </p:nvPr>
        </p:nvSpPr>
        <p:spPr>
          <a:xfrm>
            <a:off x="6193367" y="2174875"/>
            <a:ext cx="53892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32" name="Google Shape;232;g1317e272c5d_0_21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g1317e272c5d_0_212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g1317e272c5d_0_21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317e272c5d_0_221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g1317e272c5d_0_221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38" name="Google Shape;238;g1317e272c5d_0_221"/>
          <p:cNvSpPr txBox="1">
            <a:spLocks noGrp="1"/>
          </p:cNvSpPr>
          <p:nvPr>
            <p:ph type="body" idx="2"/>
          </p:nvPr>
        </p:nvSpPr>
        <p:spPr>
          <a:xfrm>
            <a:off x="6197600" y="1600200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39" name="Google Shape;239;g1317e272c5d_0_22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g1317e272c5d_0_221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g1317e272c5d_0_22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317e272c5d_0_228"/>
          <p:cNvSpPr txBox="1">
            <a:spLocks noGrp="1"/>
          </p:cNvSpPr>
          <p:nvPr>
            <p:ph type="title"/>
          </p:nvPr>
        </p:nvSpPr>
        <p:spPr>
          <a:xfrm>
            <a:off x="963084" y="4406900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g1317e272c5d_0_228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5" name="Google Shape;245;g1317e272c5d_0_22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g1317e272c5d_0_228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g1317e272c5d_0_22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317e272c5d_0_513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g1317e272c5d_0_51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normAutofit/>
          </a:bodyPr>
          <a:lstStyle>
            <a:lvl1pPr marL="457200" lvl="0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1pPr>
            <a:lvl2pPr marL="914400" lvl="1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/>
            </a:lvl2pPr>
            <a:lvl3pPr marL="1371600" lvl="2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3pPr>
            <a:lvl4pPr marL="1828800" lvl="3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/>
            </a:lvl4pPr>
            <a:lvl5pPr marL="2286000" lvl="4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»"/>
              <a:defRPr/>
            </a:lvl5pPr>
            <a:lvl6pPr marL="2743200" lvl="5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6pPr>
            <a:lvl7pPr marL="3200400" lvl="6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7pPr>
            <a:lvl8pPr marL="3657600" lvl="7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8pPr>
            <a:lvl9pPr marL="4114800" lvl="8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9pPr>
          </a:lstStyle>
          <a:p>
            <a:endParaRPr/>
          </a:p>
        </p:txBody>
      </p:sp>
      <p:sp>
        <p:nvSpPr>
          <p:cNvPr id="257" name="Google Shape;257;g1317e272c5d_0_51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g1317e272c5d_0_51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g1317e272c5d_0_51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317e272c5d_0_51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g1317e272c5d_0_51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g1317e272c5d_0_51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317e272c5d_0_523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g1317e272c5d_0_523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normAutofit/>
          </a:bodyPr>
          <a:lstStyle>
            <a:lvl1pPr lvl="0" algn="ctr" rtl="0"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4100"/>
              <a:buNone/>
              <a:defRPr>
                <a:solidFill>
                  <a:srgbClr val="888888"/>
                </a:solidFill>
              </a:defRPr>
            </a:lvl1pPr>
            <a:lvl2pPr lvl="1" algn="ctr" rtl="0"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1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6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6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6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7" name="Google Shape;267;g1317e272c5d_0_52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g1317e272c5d_0_52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g1317e272c5d_0_52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317e272c5d_0_529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g1317e272c5d_0_52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g1317e272c5d_0_52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g1317e272c5d_0_52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317e272c5d_0_534"/>
          <p:cNvSpPr txBox="1">
            <a:spLocks noGrp="1"/>
          </p:cNvSpPr>
          <p:nvPr>
            <p:ph type="title"/>
          </p:nvPr>
        </p:nvSpPr>
        <p:spPr>
          <a:xfrm>
            <a:off x="963084" y="4406902"/>
            <a:ext cx="10363200" cy="13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  <a:defRPr sz="52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g1317e272c5d_0_53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b" anchorCtr="0">
            <a:normAutofit/>
          </a:bodyPr>
          <a:lstStyle>
            <a:lvl1pPr marL="457200" lvl="0" indent="-228600" algn="l" rtl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600"/>
              <a:buNone/>
              <a:defRPr sz="26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300"/>
              <a:buNone/>
              <a:defRPr sz="23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8" name="Google Shape;278;g1317e272c5d_0_53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g1317e272c5d_0_53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g1317e272c5d_0_53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317e272c5d_0_540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g1317e272c5d_0_540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700" cy="4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normAutofit/>
          </a:bodyPr>
          <a:lstStyle>
            <a:lvl1pPr marL="457200" lvl="0" indent="-4572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1pPr>
            <a:lvl2pPr marL="914400" lvl="1" indent="-425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100"/>
              <a:buChar char="–"/>
              <a:defRPr sz="3100"/>
            </a:lvl2pPr>
            <a:lvl3pPr marL="1371600" lvl="2" indent="-3937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3pPr>
            <a:lvl4pPr marL="1828800" lvl="3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 sz="2300"/>
            </a:lvl4pPr>
            <a:lvl5pPr marL="2286000" lvl="4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»"/>
              <a:defRPr sz="2300"/>
            </a:lvl5pPr>
            <a:lvl6pPr marL="2743200" lvl="5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6pPr>
            <a:lvl7pPr marL="3200400" lvl="6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7pPr>
            <a:lvl8pPr marL="3657600" lvl="7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8pPr>
            <a:lvl9pPr marL="4114800" lvl="8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9pPr>
          </a:lstStyle>
          <a:p>
            <a:endParaRPr/>
          </a:p>
        </p:txBody>
      </p:sp>
      <p:sp>
        <p:nvSpPr>
          <p:cNvPr id="284" name="Google Shape;284;g1317e272c5d_0_540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700" cy="4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normAutofit/>
          </a:bodyPr>
          <a:lstStyle>
            <a:lvl1pPr marL="457200" lvl="0" indent="-4572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1pPr>
            <a:lvl2pPr marL="914400" lvl="1" indent="-425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100"/>
              <a:buChar char="–"/>
              <a:defRPr sz="3100"/>
            </a:lvl2pPr>
            <a:lvl3pPr marL="1371600" lvl="2" indent="-3937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3pPr>
            <a:lvl4pPr marL="1828800" lvl="3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 sz="2300"/>
            </a:lvl4pPr>
            <a:lvl5pPr marL="2286000" lvl="4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»"/>
              <a:defRPr sz="2300"/>
            </a:lvl5pPr>
            <a:lvl6pPr marL="2743200" lvl="5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6pPr>
            <a:lvl7pPr marL="3200400" lvl="6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7pPr>
            <a:lvl8pPr marL="3657600" lvl="7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8pPr>
            <a:lvl9pPr marL="4114800" lvl="8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9pPr>
          </a:lstStyle>
          <a:p>
            <a:endParaRPr/>
          </a:p>
        </p:txBody>
      </p:sp>
      <p:sp>
        <p:nvSpPr>
          <p:cNvPr id="285" name="Google Shape;285;g1317e272c5d_0_54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g1317e272c5d_0_54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g1317e272c5d_0_54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317e272c5d_0_547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g1317e272c5d_0_54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b" anchorCtr="0">
            <a:normAutofit/>
          </a:bodyPr>
          <a:lstStyle>
            <a:lvl1pPr marL="4572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 b="1"/>
            </a:lvl1pPr>
            <a:lvl2pPr marL="914400" lvl="1" indent="-2286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 b="1"/>
            </a:lvl2pPr>
            <a:lvl3pPr marL="1371600" lvl="2" indent="-2286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/>
            </a:lvl3pPr>
            <a:lvl4pPr marL="18288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4pPr>
            <a:lvl5pPr marL="2286000" lvl="4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5pPr>
            <a:lvl6pPr marL="2743200" lvl="5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6pPr>
            <a:lvl7pPr marL="3200400" lvl="6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7pPr>
            <a:lvl8pPr marL="3657600" lvl="7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8pPr>
            <a:lvl9pPr marL="4114800" lvl="8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291" name="Google Shape;291;g1317e272c5d_0_54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normAutofit/>
          </a:bodyPr>
          <a:lstStyle>
            <a:lvl1pPr marL="457200" lvl="0" indent="-425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100"/>
              <a:buChar char="•"/>
              <a:defRPr sz="3100"/>
            </a:lvl1pPr>
            <a:lvl2pPr marL="914400" lvl="1" indent="-3937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/>
            </a:lvl2pPr>
            <a:lvl3pPr marL="1371600" lvl="2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3pPr>
            <a:lvl4pPr marL="1828800" lvl="3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marL="2286000" lvl="4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marL="2743200" lvl="5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marL="3200400" lvl="6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marL="3657600" lvl="7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marL="4114800" lvl="8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>
            <a:endParaRPr/>
          </a:p>
        </p:txBody>
      </p:sp>
      <p:sp>
        <p:nvSpPr>
          <p:cNvPr id="292" name="Google Shape;292;g1317e272c5d_0_547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2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b" anchorCtr="0">
            <a:normAutofit/>
          </a:bodyPr>
          <a:lstStyle>
            <a:lvl1pPr marL="4572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 b="1"/>
            </a:lvl1pPr>
            <a:lvl2pPr marL="914400" lvl="1" indent="-2286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 b="1"/>
            </a:lvl2pPr>
            <a:lvl3pPr marL="1371600" lvl="2" indent="-2286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/>
            </a:lvl3pPr>
            <a:lvl4pPr marL="18288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4pPr>
            <a:lvl5pPr marL="2286000" lvl="4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5pPr>
            <a:lvl6pPr marL="2743200" lvl="5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6pPr>
            <a:lvl7pPr marL="3200400" lvl="6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7pPr>
            <a:lvl8pPr marL="3657600" lvl="7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8pPr>
            <a:lvl9pPr marL="4114800" lvl="8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293" name="Google Shape;293;g1317e272c5d_0_547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2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normAutofit/>
          </a:bodyPr>
          <a:lstStyle>
            <a:lvl1pPr marL="457200" lvl="0" indent="-425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100"/>
              <a:buChar char="•"/>
              <a:defRPr sz="3100"/>
            </a:lvl1pPr>
            <a:lvl2pPr marL="914400" lvl="1" indent="-3937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/>
            </a:lvl2pPr>
            <a:lvl3pPr marL="1371600" lvl="2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3pPr>
            <a:lvl4pPr marL="1828800" lvl="3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marL="2286000" lvl="4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marL="2743200" lvl="5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marL="3200400" lvl="6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marL="3657600" lvl="7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marL="4114800" lvl="8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>
            <a:endParaRPr/>
          </a:p>
        </p:txBody>
      </p:sp>
      <p:sp>
        <p:nvSpPr>
          <p:cNvPr id="294" name="Google Shape;294;g1317e272c5d_0_54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g1317e272c5d_0_54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g1317e272c5d_0_54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317e272c5d_0_556"/>
          <p:cNvSpPr txBox="1">
            <a:spLocks noGrp="1"/>
          </p:cNvSpPr>
          <p:nvPr>
            <p:ph type="title"/>
          </p:nvPr>
        </p:nvSpPr>
        <p:spPr>
          <a:xfrm>
            <a:off x="609603" y="273049"/>
            <a:ext cx="40113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  <a:defRPr sz="2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g1317e272c5d_0_556"/>
          <p:cNvSpPr txBox="1">
            <a:spLocks noGrp="1"/>
          </p:cNvSpPr>
          <p:nvPr>
            <p:ph type="body" idx="1"/>
          </p:nvPr>
        </p:nvSpPr>
        <p:spPr>
          <a:xfrm>
            <a:off x="4766733" y="273052"/>
            <a:ext cx="6815700" cy="58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normAutofit/>
          </a:bodyPr>
          <a:lstStyle>
            <a:lvl1pPr marL="457200" lvl="0" indent="-48895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100"/>
              <a:buChar char="•"/>
              <a:defRPr sz="4100"/>
            </a:lvl1pPr>
            <a:lvl2pPr marL="914400" lvl="1" indent="-4572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2pPr>
            <a:lvl3pPr marL="1371600" lvl="2" indent="-425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100"/>
              <a:buChar char="•"/>
              <a:defRPr sz="3100"/>
            </a:lvl3pPr>
            <a:lvl4pPr marL="1828800" lvl="3" indent="-3937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/>
            </a:lvl4pPr>
            <a:lvl5pPr marL="2286000" lvl="4" indent="-3937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»"/>
              <a:defRPr sz="2600"/>
            </a:lvl5pPr>
            <a:lvl6pPr marL="2743200" lvl="5" indent="-3937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6pPr>
            <a:lvl7pPr marL="3200400" lvl="6" indent="-3937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7pPr>
            <a:lvl8pPr marL="3657600" lvl="7" indent="-3937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8pPr>
            <a:lvl9pPr marL="4114800" lvl="8" indent="-3937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9pPr>
          </a:lstStyle>
          <a:p>
            <a:endParaRPr/>
          </a:p>
        </p:txBody>
      </p:sp>
      <p:sp>
        <p:nvSpPr>
          <p:cNvPr id="300" name="Google Shape;300;g1317e272c5d_0_556"/>
          <p:cNvSpPr txBox="1">
            <a:spLocks noGrp="1"/>
          </p:cNvSpPr>
          <p:nvPr>
            <p:ph type="body" idx="2"/>
          </p:nvPr>
        </p:nvSpPr>
        <p:spPr>
          <a:xfrm>
            <a:off x="609603" y="1435102"/>
            <a:ext cx="40113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marL="1371600" lvl="2" indent="-2286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marL="1828800" lvl="3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marL="3200400" lvl="6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marL="3657600" lvl="7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marL="4114800" lvl="8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01" name="Google Shape;301;g1317e272c5d_0_55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g1317e272c5d_0_55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g1317e272c5d_0_55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317e272c5d_0_56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  <a:defRPr sz="2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g1317e272c5d_0_56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g1317e272c5d_0_56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marL="1371600" lvl="2" indent="-2286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marL="1828800" lvl="3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marL="3200400" lvl="6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marL="3657600" lvl="7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marL="4114800" lvl="8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08" name="Google Shape;308;g1317e272c5d_0_56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g1317e272c5d_0_56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g1317e272c5d_0_56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317e272c5d_0_570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g1317e272c5d_0_570"/>
          <p:cNvSpPr txBox="1">
            <a:spLocks noGrp="1"/>
          </p:cNvSpPr>
          <p:nvPr>
            <p:ph type="body" idx="1"/>
          </p:nvPr>
        </p:nvSpPr>
        <p:spPr>
          <a:xfrm rot="5400000">
            <a:off x="3833100" y="-1623299"/>
            <a:ext cx="4525800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normAutofit/>
          </a:bodyPr>
          <a:lstStyle>
            <a:lvl1pPr marL="457200" lvl="0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1pPr>
            <a:lvl2pPr marL="914400" lvl="1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/>
            </a:lvl2pPr>
            <a:lvl3pPr marL="1371600" lvl="2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3pPr>
            <a:lvl4pPr marL="1828800" lvl="3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/>
            </a:lvl4pPr>
            <a:lvl5pPr marL="2286000" lvl="4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»"/>
              <a:defRPr/>
            </a:lvl5pPr>
            <a:lvl6pPr marL="2743200" lvl="5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6pPr>
            <a:lvl7pPr marL="3200400" lvl="6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7pPr>
            <a:lvl8pPr marL="3657600" lvl="7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8pPr>
            <a:lvl9pPr marL="4114800" lvl="8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9pPr>
          </a:lstStyle>
          <a:p>
            <a:endParaRPr/>
          </a:p>
        </p:txBody>
      </p:sp>
      <p:sp>
        <p:nvSpPr>
          <p:cNvPr id="314" name="Google Shape;314;g1317e272c5d_0_57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g1317e272c5d_0_57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g1317e272c5d_0_57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317e272c5d_0_576"/>
          <p:cNvSpPr txBox="1">
            <a:spLocks noGrp="1"/>
          </p:cNvSpPr>
          <p:nvPr>
            <p:ph type="title"/>
          </p:nvPr>
        </p:nvSpPr>
        <p:spPr>
          <a:xfrm rot="5400000">
            <a:off x="7285050" y="1828789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g1317e272c5d_0_576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61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normAutofit/>
          </a:bodyPr>
          <a:lstStyle>
            <a:lvl1pPr marL="457200" lvl="0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1pPr>
            <a:lvl2pPr marL="914400" lvl="1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/>
            </a:lvl2pPr>
            <a:lvl3pPr marL="1371600" lvl="2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3pPr>
            <a:lvl4pPr marL="1828800" lvl="3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/>
            </a:lvl4pPr>
            <a:lvl5pPr marL="2286000" lvl="4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»"/>
              <a:defRPr/>
            </a:lvl5pPr>
            <a:lvl6pPr marL="2743200" lvl="5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6pPr>
            <a:lvl7pPr marL="3200400" lvl="6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7pPr>
            <a:lvl8pPr marL="3657600" lvl="7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8pPr>
            <a:lvl9pPr marL="4114800" lvl="8" indent="-3746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9pPr>
          </a:lstStyle>
          <a:p>
            <a:endParaRPr/>
          </a:p>
        </p:txBody>
      </p:sp>
      <p:sp>
        <p:nvSpPr>
          <p:cNvPr id="320" name="Google Shape;320;g1317e272c5d_0_57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g1317e272c5d_0_57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g1317e272c5d_0_57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g1321dd50e25_3_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g1321dd50e25_3_3"/>
          <p:cNvSpPr txBox="1">
            <a:spLocks noGrp="1"/>
          </p:cNvSpPr>
          <p:nvPr>
            <p:ph type="ctrTitle"/>
          </p:nvPr>
        </p:nvSpPr>
        <p:spPr>
          <a:xfrm>
            <a:off x="651641" y="1122363"/>
            <a:ext cx="100164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venir"/>
              <a:buNone/>
              <a:defRPr sz="5400" b="0" i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g1321dd50e25_3_3"/>
          <p:cNvSpPr txBox="1">
            <a:spLocks noGrp="1"/>
          </p:cNvSpPr>
          <p:nvPr>
            <p:ph type="subTitle" idx="1"/>
          </p:nvPr>
        </p:nvSpPr>
        <p:spPr>
          <a:xfrm>
            <a:off x="651641" y="3602038"/>
            <a:ext cx="100164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 b="0" i="0">
                <a:solidFill>
                  <a:schemeClr val="l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g1321dd50e25_3_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g1321dd50e25_3_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venir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g1321dd50e25_3_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g1321dd50e25_3_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g1321dd50e25_3_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400"/>
              <a:buFont typeface="Avenir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g1321dd50e25_3_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g1321dd50e25_3_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g1321dd50e25_3_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venir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1" name="Google Shape;341;g1321dd50e25_3_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g1321dd50e25_3_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g1321dd50e25_3_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Font typeface="Avenir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g1321dd50e25_3_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g1321dd50e25_3_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g1321dd50e25_3_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g1321dd50e25_3_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g1321dd50e25_3_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9100" y="5657850"/>
            <a:ext cx="1877915" cy="825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1321dd50e25_3_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g1321dd50e25_3_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1321dd50e25_3_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venir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g1321dd50e25_3_3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57595A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57595A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95A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57595A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57595A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7" name="Google Shape;357;g1321dd50e25_3_3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358" name="Google Shape;358;g1321dd50e25_3_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9100" y="5657850"/>
            <a:ext cx="1877915" cy="82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g1321dd50e25_3_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g1321dd50e25_3_36"/>
          <p:cNvSpPr txBox="1">
            <a:spLocks noGrp="1"/>
          </p:cNvSpPr>
          <p:nvPr>
            <p:ph type="title"/>
          </p:nvPr>
        </p:nvSpPr>
        <p:spPr>
          <a:xfrm>
            <a:off x="528638" y="1709738"/>
            <a:ext cx="10818900" cy="23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Avenir"/>
              <a:buNone/>
              <a:defRPr sz="6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2" name="Google Shape;362;g1321dd50e25_3_36"/>
          <p:cNvSpPr txBox="1">
            <a:spLocks noGrp="1"/>
          </p:cNvSpPr>
          <p:nvPr>
            <p:ph type="body" idx="1"/>
          </p:nvPr>
        </p:nvSpPr>
        <p:spPr>
          <a:xfrm>
            <a:off x="528638" y="4171951"/>
            <a:ext cx="10818900" cy="19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8C9C9"/>
              </a:buClr>
              <a:buSzPts val="2400"/>
              <a:buNone/>
              <a:defRPr sz="2400">
                <a:solidFill>
                  <a:srgbClr val="C8C9C9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8C9C9"/>
              </a:buClr>
              <a:buSzPts val="2000"/>
              <a:buNone/>
              <a:defRPr sz="2000">
                <a:solidFill>
                  <a:srgbClr val="C8C9C9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8C9C9"/>
              </a:buClr>
              <a:buSzPts val="1800"/>
              <a:buNone/>
              <a:defRPr sz="1800">
                <a:solidFill>
                  <a:srgbClr val="C8C9C9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8C9C9"/>
              </a:buClr>
              <a:buSzPts val="1600"/>
              <a:buNone/>
              <a:defRPr sz="1600">
                <a:solidFill>
                  <a:srgbClr val="C8C9C9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8C9C9"/>
              </a:buClr>
              <a:buSzPts val="1600"/>
              <a:buNone/>
              <a:defRPr sz="1600">
                <a:solidFill>
                  <a:srgbClr val="C8C9C9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8C9C9"/>
              </a:buClr>
              <a:buSzPts val="1600"/>
              <a:buNone/>
              <a:defRPr sz="1600">
                <a:solidFill>
                  <a:srgbClr val="C8C9C9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8C9C9"/>
              </a:buClr>
              <a:buSzPts val="1600"/>
              <a:buNone/>
              <a:defRPr sz="1600">
                <a:solidFill>
                  <a:srgbClr val="C8C9C9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8C9C9"/>
              </a:buClr>
              <a:buSzPts val="1600"/>
              <a:buNone/>
              <a:defRPr sz="1600">
                <a:solidFill>
                  <a:srgbClr val="C8C9C9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8C9C9"/>
              </a:buClr>
              <a:buSzPts val="1600"/>
              <a:buNone/>
              <a:defRPr sz="1600">
                <a:solidFill>
                  <a:srgbClr val="C8C9C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321dd50e25_3_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5" name="Google Shape;365;g1321dd50e25_3_40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66" name="Google Shape;366;g1321dd50e25_3_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9100" y="5657850"/>
            <a:ext cx="1877915" cy="82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1321dd50e25_3_44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g1321dd50e25_3_44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0" name="Google Shape;370;g1321dd50e25_3_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1" name="Google Shape;371;g1321dd50e25_3_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2" name="Google Shape;372;g1321dd50e25_3_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g2e33294cefc_0_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g2e33294cefc_0_6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venir"/>
              <a:buNone/>
              <a:defRPr>
                <a:solidFill>
                  <a:schemeClr val="accent2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9" name="Google Shape;379;g2e33294cefc_0_6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g2e33294cefc_0_7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g2e33294cefc_0_72"/>
          <p:cNvSpPr txBox="1">
            <a:spLocks noGrp="1"/>
          </p:cNvSpPr>
          <p:nvPr>
            <p:ph type="ctrTitle"/>
          </p:nvPr>
        </p:nvSpPr>
        <p:spPr>
          <a:xfrm>
            <a:off x="651641" y="1122363"/>
            <a:ext cx="100164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venir"/>
              <a:buNone/>
              <a:defRPr sz="5400" b="0" i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g2e33294cefc_0_72"/>
          <p:cNvSpPr txBox="1">
            <a:spLocks noGrp="1"/>
          </p:cNvSpPr>
          <p:nvPr>
            <p:ph type="subTitle" idx="1"/>
          </p:nvPr>
        </p:nvSpPr>
        <p:spPr>
          <a:xfrm>
            <a:off x="651641" y="3602038"/>
            <a:ext cx="100164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 b="0" i="0">
                <a:solidFill>
                  <a:schemeClr val="l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g2e33294cefc_0_7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g2e33294cefc_0_7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  <a:defRPr>
                <a:solidFill>
                  <a:schemeClr val="accen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g2e33294cefc_0_7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g2e33294cefc_0_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g2e33294cefc_0_8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400"/>
              <a:buFont typeface="Avenir"/>
              <a:buNone/>
              <a:defRPr>
                <a:solidFill>
                  <a:schemeClr val="accent3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g2e33294cefc_0_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g2e33294cefc_0_8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g2e33294cefc_0_8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venir"/>
              <a:buNone/>
              <a:defRPr>
                <a:solidFill>
                  <a:schemeClr val="lt2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5" name="Google Shape;395;g2e33294cefc_0_8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g2e33294cefc_0_8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g2e33294cefc_0_8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Font typeface="Avenir"/>
              <a:buNone/>
              <a:defRPr>
                <a:solidFill>
                  <a:schemeClr val="accent4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g2e33294cefc_0_8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g2e33294cefc_0_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9100" y="5657850"/>
            <a:ext cx="1877915" cy="825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g2e33294cefc_0_9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g2e33294cefc_0_9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e33294cefc_0_9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venir"/>
              <a:buNone/>
              <a:defRPr sz="32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6" name="Google Shape;406;g2e33294cefc_0_9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g2e33294cefc_0_9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408" name="Google Shape;408;g2e33294cefc_0_9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9100" y="5657850"/>
            <a:ext cx="1877915" cy="82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e33294cefc_0_10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1" name="Google Shape;411;g2e33294cefc_0_10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12" name="Google Shape;412;g2e33294cefc_0_10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9100" y="5657850"/>
            <a:ext cx="1877915" cy="82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e33294cefc_0_105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5" name="Google Shape;415;g2e33294cefc_0_105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6" name="Google Shape;416;g2e33294cefc_0_10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7" name="Google Shape;417;g2e33294cefc_0_10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8" name="Google Shape;418;g2e33294cefc_0_10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303427131d_2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g1303427131d_2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g1303427131d_2_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g1303427131d_2_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g1303427131d_2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317e272c5d_0_159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5" name="Google Shape;175;g1317e272c5d_0_159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6" name="Google Shape;176;g1317e272c5d_0_15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7" name="Google Shape;177;g1317e272c5d_0_159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" name="Google Shape;178;g1317e272c5d_0_15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317e272c5d_0_507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Calibri"/>
              <a:buNone/>
              <a:defRPr sz="5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23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23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23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23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23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23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23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2300"/>
            </a:lvl9pPr>
          </a:lstStyle>
          <a:p>
            <a:endParaRPr/>
          </a:p>
        </p:txBody>
      </p:sp>
      <p:sp>
        <p:nvSpPr>
          <p:cNvPr id="250" name="Google Shape;250;g1317e272c5d_0_507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normAutofit/>
          </a:bodyPr>
          <a:lstStyle>
            <a:lvl1pPr marL="457200" marR="0" lvl="0" indent="-48895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Arial"/>
              <a:buChar char="•"/>
              <a:defRPr sz="4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572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25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•"/>
              <a:defRPr sz="3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937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937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»"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937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937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937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937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1" name="Google Shape;251;g1317e272c5d_0_50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2" name="Google Shape;252;g1317e272c5d_0_50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3" name="Google Shape;253;g1317e272c5d_0_50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321dd50e25_3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400"/>
              <a:buFont typeface="Avenir"/>
              <a:buNone/>
              <a:defRPr sz="4400" b="0" i="0" u="none" strike="noStrike" cap="none">
                <a:solidFill>
                  <a:schemeClr val="accent3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25" name="Google Shape;325;g1321dd50e25_3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57595A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7595A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7595A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7595A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7595A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e33294cefc_0_6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400"/>
              <a:buFont typeface="Avenir"/>
              <a:buNone/>
              <a:defRPr sz="4400" b="0" i="0" u="none" strike="noStrike" cap="none">
                <a:solidFill>
                  <a:schemeClr val="accent3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5" name="Google Shape;375;g2e33294cefc_0_6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57595A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7595A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7595A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7595A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7595A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g"/><Relationship Id="rId3" Type="http://schemas.openxmlformats.org/officeDocument/2006/relationships/image" Target="../media/image16.jpg"/><Relationship Id="rId7" Type="http://schemas.openxmlformats.org/officeDocument/2006/relationships/image" Target="../media/image2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10" Type="http://schemas.openxmlformats.org/officeDocument/2006/relationships/image" Target="../media/image23.jpg"/><Relationship Id="rId4" Type="http://schemas.openxmlformats.org/officeDocument/2006/relationships/image" Target="../media/image17.jpg"/><Relationship Id="rId9" Type="http://schemas.openxmlformats.org/officeDocument/2006/relationships/image" Target="../media/image2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6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g"/><Relationship Id="rId3" Type="http://schemas.openxmlformats.org/officeDocument/2006/relationships/image" Target="../media/image35.jp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2e33294cefc_0_112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193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New topic C5 Energy changes</a:t>
            </a:r>
            <a:endParaRPr/>
          </a:p>
        </p:txBody>
      </p:sp>
      <p:sp>
        <p:nvSpPr>
          <p:cNvPr id="425" name="Google Shape;425;g2e33294cefc_0_112"/>
          <p:cNvSpPr txBox="1"/>
          <p:nvPr/>
        </p:nvSpPr>
        <p:spPr>
          <a:xfrm>
            <a:off x="1012950" y="1440050"/>
            <a:ext cx="10047600" cy="38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lesson 1- Endothermic and Exothermic reactions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1317e272c5d_0_234"/>
          <p:cNvSpPr txBox="1">
            <a:spLocks noGrp="1"/>
          </p:cNvSpPr>
          <p:nvPr>
            <p:ph type="title"/>
          </p:nvPr>
        </p:nvSpPr>
        <p:spPr>
          <a:xfrm>
            <a:off x="551875" y="0"/>
            <a:ext cx="10515600" cy="867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Retrieval questions </a:t>
            </a:r>
            <a:endParaRPr/>
          </a:p>
        </p:txBody>
      </p:sp>
      <p:sp>
        <p:nvSpPr>
          <p:cNvPr id="432" name="Google Shape;432;g1317e272c5d_0_234"/>
          <p:cNvSpPr txBox="1"/>
          <p:nvPr/>
        </p:nvSpPr>
        <p:spPr>
          <a:xfrm>
            <a:off x="155375" y="793000"/>
            <a:ext cx="42795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rabicPeriod"/>
            </a:pPr>
            <a:r>
              <a:rPr lang="en-US" sz="1600" b="1">
                <a:solidFill>
                  <a:srgbClr val="231F20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What happens to atoms during a chemical reaction?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 b="1">
                <a:solidFill>
                  <a:srgbClr val="231F20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atoms are destroyed 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 b="1">
                <a:solidFill>
                  <a:srgbClr val="231F20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atoms are created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 b="1">
                <a:solidFill>
                  <a:srgbClr val="231F20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atoms are rearranged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 b="1">
                <a:solidFill>
                  <a:srgbClr val="231F20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atoms are dissolved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33" name="Google Shape;433;g1317e272c5d_0_234"/>
          <p:cNvSpPr txBox="1"/>
          <p:nvPr/>
        </p:nvSpPr>
        <p:spPr>
          <a:xfrm>
            <a:off x="155375" y="2716775"/>
            <a:ext cx="3721500" cy="14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231F20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2.  True or false? Dissolving is an example of a chemical reaction.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 b="1">
                <a:solidFill>
                  <a:srgbClr val="231F20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true 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 b="1">
                <a:solidFill>
                  <a:srgbClr val="231F20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false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34" name="Google Shape;434;g1317e272c5d_0_234"/>
          <p:cNvSpPr txBox="1"/>
          <p:nvPr/>
        </p:nvSpPr>
        <p:spPr>
          <a:xfrm>
            <a:off x="155375" y="4215150"/>
            <a:ext cx="4602600" cy="19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231F20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3. Which of these is an example of a chemical reaction?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 b="1">
                <a:solidFill>
                  <a:srgbClr val="231F20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water boiling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 b="1">
                <a:solidFill>
                  <a:srgbClr val="231F20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cooking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 b="1">
                <a:solidFill>
                  <a:srgbClr val="231F20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water freezing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 b="1">
                <a:solidFill>
                  <a:srgbClr val="231F20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ice melting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35" name="Google Shape;435;g1317e272c5d_0_234"/>
          <p:cNvSpPr txBox="1"/>
          <p:nvPr/>
        </p:nvSpPr>
        <p:spPr>
          <a:xfrm>
            <a:off x="4359300" y="864100"/>
            <a:ext cx="3473400" cy="17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231F20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4. What type of chemical reaction releases energy from a fuel?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 b="1">
                <a:solidFill>
                  <a:srgbClr val="231F20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decomposition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 b="1">
                <a:solidFill>
                  <a:srgbClr val="231F20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neutralisation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 b="1">
                <a:solidFill>
                  <a:srgbClr val="231F20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burning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36" name="Google Shape;436;g1317e272c5d_0_234"/>
          <p:cNvSpPr txBox="1"/>
          <p:nvPr/>
        </p:nvSpPr>
        <p:spPr>
          <a:xfrm>
            <a:off x="4434875" y="2716775"/>
            <a:ext cx="3923100" cy="24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231F20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5. Which is the correct chemical word equation to show the reaction of carbon with oxygen?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>
                <a:solidFill>
                  <a:srgbClr val="231F20"/>
                </a:solidFill>
                <a:latin typeface="Avenir"/>
                <a:ea typeface="Avenir"/>
                <a:cs typeface="Avenir"/>
                <a:sym typeface="Avenir"/>
              </a:rPr>
              <a:t>Carbon + oxygen = carbon dioxide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>
                <a:solidFill>
                  <a:srgbClr val="231F20"/>
                </a:solidFill>
                <a:latin typeface="Avenir"/>
                <a:ea typeface="Avenir"/>
                <a:cs typeface="Avenir"/>
                <a:sym typeface="Avenir"/>
              </a:rPr>
              <a:t>Carbon dioxide → carbon + oxygen</a:t>
            </a:r>
            <a:endParaRPr sz="1600">
              <a:solidFill>
                <a:srgbClr val="231F2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>
                <a:solidFill>
                  <a:srgbClr val="231F20"/>
                </a:solidFill>
                <a:latin typeface="Avenir"/>
                <a:ea typeface="Avenir"/>
                <a:cs typeface="Avenir"/>
                <a:sym typeface="Avenir"/>
              </a:rPr>
              <a:t>carbon + oxygen → carbon dioxide</a:t>
            </a:r>
            <a:endParaRPr sz="1600">
              <a:solidFill>
                <a:srgbClr val="231F2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37" name="Google Shape;437;g1317e272c5d_0_234"/>
          <p:cNvSpPr txBox="1"/>
          <p:nvPr/>
        </p:nvSpPr>
        <p:spPr>
          <a:xfrm>
            <a:off x="4359300" y="4844750"/>
            <a:ext cx="61092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31F20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6. What is a covalent bond?</a:t>
            </a:r>
            <a:endParaRPr sz="1600">
              <a:solidFill>
                <a:srgbClr val="231F20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>
                <a:solidFill>
                  <a:srgbClr val="231F20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A bond formed between oppositely charged ions</a:t>
            </a:r>
            <a:endParaRPr sz="1600">
              <a:solidFill>
                <a:srgbClr val="231F20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>
                <a:solidFill>
                  <a:srgbClr val="231F20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A bond formed when two atoms share a pair of electrons</a:t>
            </a:r>
            <a:endParaRPr sz="1600">
              <a:solidFill>
                <a:srgbClr val="231F20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>
                <a:solidFill>
                  <a:srgbClr val="231F20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A bond formed by delocalised electrons</a:t>
            </a:r>
            <a:endParaRPr sz="1600">
              <a:solidFill>
                <a:srgbClr val="231F20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38" name="Google Shape;438;g1317e272c5d_0_234"/>
          <p:cNvSpPr/>
          <p:nvPr/>
        </p:nvSpPr>
        <p:spPr>
          <a:xfrm>
            <a:off x="257175" y="2028825"/>
            <a:ext cx="371400" cy="228600"/>
          </a:xfrm>
          <a:prstGeom prst="ellipse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g1317e272c5d_0_234"/>
          <p:cNvSpPr/>
          <p:nvPr/>
        </p:nvSpPr>
        <p:spPr>
          <a:xfrm>
            <a:off x="155375" y="3835325"/>
            <a:ext cx="371400" cy="228600"/>
          </a:xfrm>
          <a:prstGeom prst="ellipse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g1317e272c5d_0_234"/>
          <p:cNvSpPr/>
          <p:nvPr/>
        </p:nvSpPr>
        <p:spPr>
          <a:xfrm>
            <a:off x="155375" y="5259150"/>
            <a:ext cx="371400" cy="228600"/>
          </a:xfrm>
          <a:prstGeom prst="ellipse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g1317e272c5d_0_234"/>
          <p:cNvSpPr/>
          <p:nvPr/>
        </p:nvSpPr>
        <p:spPr>
          <a:xfrm>
            <a:off x="4522575" y="4416350"/>
            <a:ext cx="371400" cy="228600"/>
          </a:xfrm>
          <a:prstGeom prst="ellipse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g1317e272c5d_0_234"/>
          <p:cNvSpPr/>
          <p:nvPr/>
        </p:nvSpPr>
        <p:spPr>
          <a:xfrm>
            <a:off x="4359300" y="5754625"/>
            <a:ext cx="371400" cy="276000"/>
          </a:xfrm>
          <a:prstGeom prst="ellipse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g1317e272c5d_0_234"/>
          <p:cNvSpPr/>
          <p:nvPr/>
        </p:nvSpPr>
        <p:spPr>
          <a:xfrm>
            <a:off x="4434875" y="2257425"/>
            <a:ext cx="371400" cy="228600"/>
          </a:xfrm>
          <a:prstGeom prst="ellipse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131e78138e5_0_0"/>
          <p:cNvSpPr txBox="1">
            <a:spLocks noGrp="1"/>
          </p:cNvSpPr>
          <p:nvPr>
            <p:ph type="title"/>
          </p:nvPr>
        </p:nvSpPr>
        <p:spPr>
          <a:xfrm>
            <a:off x="551875" y="0"/>
            <a:ext cx="10515600" cy="867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Retrieval questions </a:t>
            </a:r>
            <a:endParaRPr/>
          </a:p>
        </p:txBody>
      </p:sp>
      <p:sp>
        <p:nvSpPr>
          <p:cNvPr id="450" name="Google Shape;450;g131e78138e5_0_0"/>
          <p:cNvSpPr txBox="1"/>
          <p:nvPr/>
        </p:nvSpPr>
        <p:spPr>
          <a:xfrm>
            <a:off x="155375" y="793000"/>
            <a:ext cx="42795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rabicPeriod"/>
            </a:pPr>
            <a:r>
              <a:rPr lang="en-US" sz="1600" b="1">
                <a:solidFill>
                  <a:srgbClr val="231F20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What happens to atoms during a chemical reaction?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 b="1">
                <a:solidFill>
                  <a:srgbClr val="231F20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atoms are destroyed 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 b="1">
                <a:solidFill>
                  <a:srgbClr val="231F20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atoms are created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 b="1">
                <a:solidFill>
                  <a:srgbClr val="231F20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atoms are rearranged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 b="1">
                <a:solidFill>
                  <a:srgbClr val="231F20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atoms are dissolved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51" name="Google Shape;451;g131e78138e5_0_0"/>
          <p:cNvSpPr txBox="1"/>
          <p:nvPr/>
        </p:nvSpPr>
        <p:spPr>
          <a:xfrm>
            <a:off x="155375" y="2716775"/>
            <a:ext cx="3721500" cy="14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231F20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2.  True or false? Dissolving is an example of a chemical reaction.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 b="1">
                <a:solidFill>
                  <a:srgbClr val="231F20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true 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 b="1">
                <a:solidFill>
                  <a:srgbClr val="231F20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false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52" name="Google Shape;452;g131e78138e5_0_0"/>
          <p:cNvSpPr txBox="1"/>
          <p:nvPr/>
        </p:nvSpPr>
        <p:spPr>
          <a:xfrm>
            <a:off x="155375" y="4215150"/>
            <a:ext cx="4602600" cy="19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231F20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3. Which of these is an example of a chemical reaction?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 b="1">
                <a:solidFill>
                  <a:srgbClr val="231F20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water boiling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 b="1">
                <a:solidFill>
                  <a:srgbClr val="231F20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cooking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 b="1">
                <a:solidFill>
                  <a:srgbClr val="231F20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water freezing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 b="1">
                <a:solidFill>
                  <a:srgbClr val="231F20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ice melting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53" name="Google Shape;453;g131e78138e5_0_0"/>
          <p:cNvSpPr txBox="1"/>
          <p:nvPr/>
        </p:nvSpPr>
        <p:spPr>
          <a:xfrm>
            <a:off x="4359300" y="864100"/>
            <a:ext cx="3473400" cy="17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231F20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4. What type of chemical reaction releases energy from a fuel?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 b="1">
                <a:solidFill>
                  <a:srgbClr val="231F20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decomposition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 b="1">
                <a:solidFill>
                  <a:srgbClr val="231F20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neutralisation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 b="1">
                <a:solidFill>
                  <a:srgbClr val="231F20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burning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54" name="Google Shape;454;g131e78138e5_0_0"/>
          <p:cNvSpPr txBox="1"/>
          <p:nvPr/>
        </p:nvSpPr>
        <p:spPr>
          <a:xfrm>
            <a:off x="4434875" y="2716775"/>
            <a:ext cx="3923100" cy="24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231F20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5. Which is the correct chemical word equation to show the reaction of carbon with oxygen?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>
                <a:solidFill>
                  <a:srgbClr val="231F20"/>
                </a:solidFill>
                <a:latin typeface="Avenir"/>
                <a:ea typeface="Avenir"/>
                <a:cs typeface="Avenir"/>
                <a:sym typeface="Avenir"/>
              </a:rPr>
              <a:t>Carbon + oxygen = carbon dioxide</a:t>
            </a: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900"/>
              <a:buFont typeface="Avenir"/>
              <a:buAutoNum type="alphaLcParenR"/>
            </a:pPr>
            <a:r>
              <a:rPr lang="en-US" sz="1600">
                <a:solidFill>
                  <a:srgbClr val="231F20"/>
                </a:solidFill>
                <a:latin typeface="Avenir"/>
                <a:ea typeface="Avenir"/>
                <a:cs typeface="Avenir"/>
                <a:sym typeface="Avenir"/>
              </a:rPr>
              <a:t>Carbon dioxide → carbon + oxygen</a:t>
            </a:r>
            <a:endParaRPr sz="1600">
              <a:solidFill>
                <a:srgbClr val="231F2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>
                <a:solidFill>
                  <a:srgbClr val="231F20"/>
                </a:solidFill>
                <a:latin typeface="Avenir"/>
                <a:ea typeface="Avenir"/>
                <a:cs typeface="Avenir"/>
                <a:sym typeface="Avenir"/>
              </a:rPr>
              <a:t>carbon + oxygen → carbon dioxide</a:t>
            </a:r>
            <a:endParaRPr sz="1600">
              <a:solidFill>
                <a:srgbClr val="231F2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endParaRPr sz="1600" b="1">
              <a:solidFill>
                <a:srgbClr val="231F20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55" name="Google Shape;455;g131e78138e5_0_0"/>
          <p:cNvSpPr txBox="1"/>
          <p:nvPr/>
        </p:nvSpPr>
        <p:spPr>
          <a:xfrm>
            <a:off x="4359300" y="4844750"/>
            <a:ext cx="61092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31F20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6. What is a covalent bond?</a:t>
            </a:r>
            <a:endParaRPr sz="1600">
              <a:solidFill>
                <a:srgbClr val="231F20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>
                <a:solidFill>
                  <a:srgbClr val="231F20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A bond formed between oppositely charged ions</a:t>
            </a:r>
            <a:endParaRPr sz="1600">
              <a:solidFill>
                <a:srgbClr val="231F20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>
                <a:solidFill>
                  <a:srgbClr val="231F20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A bond formed when two atoms share a pair of electrons</a:t>
            </a:r>
            <a:endParaRPr sz="1600">
              <a:solidFill>
                <a:srgbClr val="231F20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Avenir"/>
              <a:buAutoNum type="alphaLcParenR"/>
            </a:pPr>
            <a:r>
              <a:rPr lang="en-US" sz="1600">
                <a:solidFill>
                  <a:srgbClr val="231F20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A bond formed by delocalised electrons</a:t>
            </a:r>
            <a:endParaRPr sz="1600">
              <a:solidFill>
                <a:srgbClr val="231F20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e33294cefc_0_61"/>
          <p:cNvSpPr txBox="1"/>
          <p:nvPr/>
        </p:nvSpPr>
        <p:spPr>
          <a:xfrm>
            <a:off x="547550" y="317575"/>
            <a:ext cx="10964700" cy="44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57595A"/>
                </a:solidFill>
                <a:latin typeface="Avenir"/>
                <a:ea typeface="Avenir"/>
                <a:cs typeface="Avenir"/>
                <a:sym typeface="Avenir"/>
              </a:rPr>
              <a:t>Seneca learning has been set for home learning. This is revision for B1-B4, your upcoming mock exams.  Please ensure this is completed by the deadline. </a:t>
            </a:r>
            <a:endParaRPr sz="5100">
              <a:solidFill>
                <a:srgbClr val="57595A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"/>
          <p:cNvSpPr txBox="1">
            <a:spLocks noGrp="1"/>
          </p:cNvSpPr>
          <p:nvPr>
            <p:ph type="title"/>
          </p:nvPr>
        </p:nvSpPr>
        <p:spPr>
          <a:xfrm>
            <a:off x="637250" y="61783"/>
            <a:ext cx="10515600" cy="14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u="sng"/>
              <a:t>Learning objectives:</a:t>
            </a:r>
            <a:br>
              <a:rPr lang="en-US" b="1" u="sng"/>
            </a:br>
            <a:endParaRPr b="1" u="sng"/>
          </a:p>
        </p:txBody>
      </p:sp>
      <p:pic>
        <p:nvPicPr>
          <p:cNvPr id="466" name="Google Shape;466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11075"/>
            <a:ext cx="12191999" cy="946925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"/>
          <p:cNvSpPr txBox="1"/>
          <p:nvPr/>
        </p:nvSpPr>
        <p:spPr>
          <a:xfrm>
            <a:off x="163275" y="954575"/>
            <a:ext cx="11694000" cy="53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191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venir"/>
              <a:buChar char="●"/>
            </a:pPr>
            <a:r>
              <a:rPr lang="en-US" sz="3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recap chemical reactions and how energy is involved</a:t>
            </a:r>
            <a:endParaRPr sz="30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30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lvl="0" indent="-4191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venir"/>
              <a:buChar char="●"/>
            </a:pPr>
            <a:r>
              <a:rPr lang="en-US" sz="3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identify exothermic and endothermic reactions from temperature changes</a:t>
            </a:r>
            <a:endParaRPr sz="30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30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30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 b="1" u="sng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Key words</a:t>
            </a:r>
            <a:endParaRPr sz="3000" b="1" u="sng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endothermic, exothermic </a:t>
            </a:r>
            <a:endParaRPr sz="30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g1317e272c5d_0_117" descr="http://t2.gstatic.com/images?q=tbn:ANd9GcQUpsN2it-noy8EKc1pqC4c9YWErVFOFDkahfM_A6es-ZTy8VnT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03083" y="260350"/>
            <a:ext cx="6337300" cy="6253162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g1317e272c5d_0_117"/>
          <p:cNvSpPr txBox="1">
            <a:spLocks noGrp="1"/>
          </p:cNvSpPr>
          <p:nvPr>
            <p:ph type="ctrTitle"/>
          </p:nvPr>
        </p:nvSpPr>
        <p:spPr>
          <a:xfrm>
            <a:off x="334433" y="1052512"/>
            <a:ext cx="5566800" cy="37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</a:pPr>
            <a:r>
              <a:rPr lang="en-US" sz="66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 Chemical Reaction?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g1317e272c5d_0_122" descr="Chem Rxn 6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14400"/>
            <a:ext cx="3289300" cy="246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g1317e272c5d_0_122" descr="Chem rxn 8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81333" y="0"/>
            <a:ext cx="3683000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g1317e272c5d_0_122"/>
          <p:cNvSpPr txBox="1">
            <a:spLocks noGrp="1"/>
          </p:cNvSpPr>
          <p:nvPr>
            <p:ph type="title"/>
          </p:nvPr>
        </p:nvSpPr>
        <p:spPr>
          <a:xfrm>
            <a:off x="203200" y="152400"/>
            <a:ext cx="90423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sz="4400" b="0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is what we observe…</a:t>
            </a:r>
            <a:endParaRPr/>
          </a:p>
        </p:txBody>
      </p:sp>
      <p:pic>
        <p:nvPicPr>
          <p:cNvPr id="481" name="Google Shape;481;g1317e272c5d_0_122" descr="Chem rxn 2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8800" y="1981200"/>
            <a:ext cx="2235200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g1317e272c5d_0_122" descr="Chem rxn 3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06267" y="4394200"/>
            <a:ext cx="3289300" cy="246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g1317e272c5d_0_122" descr="Chem rxn 4.jp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06267" y="2133600"/>
            <a:ext cx="3289300" cy="246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g1317e272c5d_0_122" descr="Chem rxn 5.jp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3365500"/>
            <a:ext cx="2324100" cy="349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g1317e272c5d_0_122" descr="Chem rxn 7.jp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197600" y="5334000"/>
            <a:ext cx="22860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g1317e272c5d_0_122" descr="chem Rxn 9.jp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149600" y="4724400"/>
            <a:ext cx="1981200" cy="20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Google Shape;491;g1317e272c5d_0_1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0"/>
            <a:ext cx="112712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g1317e272c5d_0_134"/>
          <p:cNvSpPr txBox="1">
            <a:spLocks noGrp="1"/>
          </p:cNvSpPr>
          <p:nvPr>
            <p:ph type="title"/>
          </p:nvPr>
        </p:nvSpPr>
        <p:spPr>
          <a:xfrm>
            <a:off x="711200" y="228600"/>
            <a:ext cx="109728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sz="44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is what’s going on…</a:t>
            </a:r>
            <a:endParaRPr/>
          </a:p>
        </p:txBody>
      </p:sp>
      <p:pic>
        <p:nvPicPr>
          <p:cNvPr id="493" name="Google Shape;493;g1317e272c5d_0_1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25600" y="1447800"/>
            <a:ext cx="5035549" cy="1655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g1317e272c5d_0_13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6000749" y="4221162"/>
            <a:ext cx="5251500" cy="20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g1317e272c5d_0_134"/>
          <p:cNvSpPr txBox="1"/>
          <p:nvPr/>
        </p:nvSpPr>
        <p:spPr>
          <a:xfrm>
            <a:off x="7518400" y="1219200"/>
            <a:ext cx="41295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Molecules of Hydrogen react with 1 Molecule of Oxygen to produce 2 Molecules of Water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g1317e272c5d_0_134"/>
          <p:cNvSpPr txBox="1"/>
          <p:nvPr/>
        </p:nvSpPr>
        <p:spPr>
          <a:xfrm>
            <a:off x="719667" y="4149725"/>
            <a:ext cx="41277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Molecule of Hydrogen reacts with 1 Molecule of Chlorine to produce 2 Molecules of Hydrochloric Acid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7" name="Google Shape;497;g1317e272c5d_0_1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46400" y="0"/>
            <a:ext cx="1127125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g1317e272c5d_0_1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84800" y="0"/>
            <a:ext cx="1127125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g1317e272c5d_0_1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6400" y="0"/>
            <a:ext cx="1127125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g1317e272c5d_0_1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6400" y="0"/>
            <a:ext cx="1127125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g1303427131d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625" y="120725"/>
            <a:ext cx="11831000" cy="570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g1303427131d_0_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760350"/>
            <a:ext cx="12192001" cy="109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g1303427131d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225" y="0"/>
            <a:ext cx="12078776" cy="574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g1303427131d_0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760350"/>
            <a:ext cx="12192001" cy="109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g1303427131d_0_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27799" y="2557450"/>
            <a:ext cx="3092375" cy="3096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"/>
          <p:cNvSpPr txBox="1">
            <a:spLocks noGrp="1"/>
          </p:cNvSpPr>
          <p:nvPr>
            <p:ph type="body" idx="1"/>
          </p:nvPr>
        </p:nvSpPr>
        <p:spPr>
          <a:xfrm>
            <a:off x="586975" y="531900"/>
            <a:ext cx="10515600" cy="36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endParaRPr sz="3600" b="1"/>
          </a:p>
          <a:p>
            <a:pPr marL="514350" lvl="0" indent="-336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/>
          </a:p>
        </p:txBody>
      </p:sp>
      <p:sp>
        <p:nvSpPr>
          <p:cNvPr id="521" name="Google Shape;521;p3"/>
          <p:cNvSpPr txBox="1"/>
          <p:nvPr/>
        </p:nvSpPr>
        <p:spPr>
          <a:xfrm>
            <a:off x="1891323" y="-41030"/>
            <a:ext cx="96012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sz="44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Change in the temperature</a:t>
            </a:r>
            <a:endParaRPr/>
          </a:p>
        </p:txBody>
      </p:sp>
      <p:cxnSp>
        <p:nvCxnSpPr>
          <p:cNvPr id="522" name="Google Shape;522;p3"/>
          <p:cNvCxnSpPr/>
          <p:nvPr/>
        </p:nvCxnSpPr>
        <p:spPr>
          <a:xfrm flipH="1">
            <a:off x="2559112" y="1589022"/>
            <a:ext cx="1393500" cy="1368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23" name="Google Shape;523;p3"/>
          <p:cNvCxnSpPr/>
          <p:nvPr/>
        </p:nvCxnSpPr>
        <p:spPr>
          <a:xfrm>
            <a:off x="7096825" y="1528025"/>
            <a:ext cx="1578600" cy="1515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24" name="Google Shape;524;p3"/>
          <p:cNvSpPr txBox="1"/>
          <p:nvPr/>
        </p:nvSpPr>
        <p:spPr>
          <a:xfrm>
            <a:off x="1142998" y="866643"/>
            <a:ext cx="8160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What may happen with the temperature?</a:t>
            </a:r>
            <a:endParaRPr/>
          </a:p>
        </p:txBody>
      </p:sp>
      <p:sp>
        <p:nvSpPr>
          <p:cNvPr id="525" name="Google Shape;525;p3"/>
          <p:cNvSpPr txBox="1"/>
          <p:nvPr/>
        </p:nvSpPr>
        <p:spPr>
          <a:xfrm>
            <a:off x="878958" y="3156512"/>
            <a:ext cx="47538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Rise in the temperature</a:t>
            </a:r>
            <a:endParaRPr/>
          </a:p>
        </p:txBody>
      </p:sp>
      <p:sp>
        <p:nvSpPr>
          <p:cNvPr id="526" name="Google Shape;526;p3"/>
          <p:cNvSpPr txBox="1"/>
          <p:nvPr/>
        </p:nvSpPr>
        <p:spPr>
          <a:xfrm>
            <a:off x="6767207" y="2957321"/>
            <a:ext cx="49707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Drop in the temperature</a:t>
            </a:r>
            <a:endParaRPr/>
          </a:p>
        </p:txBody>
      </p:sp>
      <p:pic>
        <p:nvPicPr>
          <p:cNvPr id="527" name="Google Shape;52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760350"/>
            <a:ext cx="12192001" cy="109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1303427131d_2_158"/>
          <p:cNvSpPr txBox="1"/>
          <p:nvPr/>
        </p:nvSpPr>
        <p:spPr>
          <a:xfrm>
            <a:off x="857214" y="214290"/>
            <a:ext cx="10191821" cy="523220"/>
          </a:xfrm>
          <a:prstGeom prst="rect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Exothermic reaction 🡪 Gives out heat</a:t>
            </a:r>
            <a:endParaRPr/>
          </a:p>
        </p:txBody>
      </p:sp>
      <p:sp>
        <p:nvSpPr>
          <p:cNvPr id="534" name="Google Shape;534;g1303427131d_2_158"/>
          <p:cNvSpPr txBox="1"/>
          <p:nvPr/>
        </p:nvSpPr>
        <p:spPr>
          <a:xfrm>
            <a:off x="1142966" y="928671"/>
            <a:ext cx="9620400" cy="12006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Usually in the form of </a:t>
            </a:r>
            <a:r>
              <a:rPr lang="en-US" sz="2400" b="1" u="sng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heat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</a:t>
            </a:r>
            <a:r>
              <a:rPr lang="en-US" sz="24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which is shown by a </a:t>
            </a:r>
            <a:r>
              <a:rPr lang="en-US" sz="2400" b="1" u="sng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rise in temperature</a:t>
            </a:r>
            <a:r>
              <a:rPr lang="en-US" sz="24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535" name="Google Shape;535;g1303427131d_2_158" descr="C:\Documents and Settings\teacher\Local Settings\Temporary Internet Files\Content.IE5\43OMSHWN\MMj02866700000[1].g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240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g1303427131d_2_158"/>
          <p:cNvSpPr txBox="1"/>
          <p:nvPr/>
        </p:nvSpPr>
        <p:spPr>
          <a:xfrm>
            <a:off x="1714469" y="2357431"/>
            <a:ext cx="8382059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EXO- EXIT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THERMAL – TEMPERATURE </a:t>
            </a:r>
            <a:endParaRPr/>
          </a:p>
        </p:txBody>
      </p:sp>
      <p:pic>
        <p:nvPicPr>
          <p:cNvPr id="537" name="Google Shape;537;g1303427131d_2_1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760350"/>
            <a:ext cx="12192001" cy="109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1303427131d_2_16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Exothermic reaction </a:t>
            </a:r>
            <a:endParaRPr/>
          </a:p>
        </p:txBody>
      </p:sp>
      <p:pic>
        <p:nvPicPr>
          <p:cNvPr id="543" name="Google Shape;543;g1303427131d_2_166" descr="Резултат с изображение за exothermic reaction example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1550" y="1357298"/>
            <a:ext cx="9731733" cy="4643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g1303427131d_2_1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760350"/>
            <a:ext cx="12192001" cy="109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303427131d_2_172"/>
          <p:cNvSpPr txBox="1"/>
          <p:nvPr/>
        </p:nvSpPr>
        <p:spPr>
          <a:xfrm>
            <a:off x="857214" y="214290"/>
            <a:ext cx="10191821" cy="523220"/>
          </a:xfrm>
          <a:prstGeom prst="rect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Exothermic reaction 🡪 Gives out heat</a:t>
            </a:r>
            <a:endParaRPr/>
          </a:p>
        </p:txBody>
      </p:sp>
      <p:pic>
        <p:nvPicPr>
          <p:cNvPr id="551" name="Google Shape;551;g1303427131d_2_172" descr="C:\Documents and Settings\teacher\Local Settings\Temporary Internet Files\Content.IE5\43OMSHWN\MMj02866700000[1].g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240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g1303427131d_2_172"/>
          <p:cNvSpPr/>
          <p:nvPr/>
        </p:nvSpPr>
        <p:spPr>
          <a:xfrm>
            <a:off x="857213" y="1285860"/>
            <a:ext cx="10096571" cy="1815882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u="sng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Forming new bonds gives out energy = Exothermic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1" u="sng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53" name="Google Shape;553;g1303427131d_2_172"/>
          <p:cNvSpPr/>
          <p:nvPr/>
        </p:nvSpPr>
        <p:spPr>
          <a:xfrm>
            <a:off x="1523968" y="2643182"/>
            <a:ext cx="762005" cy="642942"/>
          </a:xfrm>
          <a:prstGeom prst="ellipse">
            <a:avLst/>
          </a:prstGeom>
          <a:solidFill>
            <a:srgbClr val="F913C8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g1303427131d_2_172"/>
          <p:cNvSpPr/>
          <p:nvPr/>
        </p:nvSpPr>
        <p:spPr>
          <a:xfrm>
            <a:off x="7334259" y="2643182"/>
            <a:ext cx="762005" cy="642942"/>
          </a:xfrm>
          <a:prstGeom prst="ellipse">
            <a:avLst/>
          </a:prstGeom>
          <a:solidFill>
            <a:srgbClr val="F913C8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g1303427131d_2_172"/>
          <p:cNvSpPr/>
          <p:nvPr/>
        </p:nvSpPr>
        <p:spPr>
          <a:xfrm>
            <a:off x="3333731" y="2643182"/>
            <a:ext cx="762005" cy="642942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g1303427131d_2_172"/>
          <p:cNvSpPr/>
          <p:nvPr/>
        </p:nvSpPr>
        <p:spPr>
          <a:xfrm>
            <a:off x="8096264" y="2643182"/>
            <a:ext cx="762005" cy="642942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7" name="Google Shape;557;g1303427131d_2_172"/>
          <p:cNvCxnSpPr/>
          <p:nvPr/>
        </p:nvCxnSpPr>
        <p:spPr>
          <a:xfrm>
            <a:off x="4571989" y="2928934"/>
            <a:ext cx="2381267" cy="1588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pic>
        <p:nvPicPr>
          <p:cNvPr id="558" name="Google Shape;558;g1303427131d_2_1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760350"/>
            <a:ext cx="12192001" cy="109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"/>
          <p:cNvSpPr/>
          <p:nvPr/>
        </p:nvSpPr>
        <p:spPr>
          <a:xfrm>
            <a:off x="1238216" y="714356"/>
            <a:ext cx="9918100" cy="707886"/>
          </a:xfrm>
          <a:prstGeom prst="rect">
            <a:avLst/>
          </a:prstGeom>
          <a:gradFill>
            <a:gsLst>
              <a:gs pos="0">
                <a:srgbClr val="7FB75F"/>
              </a:gs>
              <a:gs pos="50000">
                <a:srgbClr val="6EB141"/>
              </a:gs>
              <a:gs pos="100000">
                <a:srgbClr val="5FA134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Endothermic reaction 🡪 Takes in energy</a:t>
            </a:r>
            <a:endParaRPr sz="40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65" name="Google Shape;565;p4"/>
          <p:cNvSpPr txBox="1"/>
          <p:nvPr/>
        </p:nvSpPr>
        <p:spPr>
          <a:xfrm>
            <a:off x="1238216" y="1857365"/>
            <a:ext cx="9620400" cy="15699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Usually in the form of </a:t>
            </a:r>
            <a:r>
              <a:rPr lang="en-US" sz="3200" b="1" u="sng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heat</a:t>
            </a:r>
            <a:r>
              <a:rPr lang="en-US" sz="32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, which is shown by a </a:t>
            </a:r>
            <a:r>
              <a:rPr lang="en-US" sz="3200" b="1" u="sng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fall in temperature</a:t>
            </a:r>
            <a:r>
              <a:rPr lang="en-US" sz="32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566" name="Google Shape;566;p4" descr="C:\Documents and Settings\teacher\Local Settings\Temporary Internet Files\Content.IE5\43OMSHWN\MMj02866700000[1].g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464" y="925646"/>
            <a:ext cx="15240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760350"/>
            <a:ext cx="12192001" cy="109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Wednesday, June 1, 2022</a:t>
            </a:r>
            <a:endParaRPr/>
          </a:p>
        </p:txBody>
      </p:sp>
      <p:sp>
        <p:nvSpPr>
          <p:cNvPr id="574" name="Google Shape;574;p6"/>
          <p:cNvSpPr/>
          <p:nvPr/>
        </p:nvSpPr>
        <p:spPr>
          <a:xfrm>
            <a:off x="1238216" y="714356"/>
            <a:ext cx="9918100" cy="707886"/>
          </a:xfrm>
          <a:prstGeom prst="rect">
            <a:avLst/>
          </a:prstGeom>
          <a:gradFill>
            <a:gsLst>
              <a:gs pos="0">
                <a:srgbClr val="7FB75F"/>
              </a:gs>
              <a:gs pos="50000">
                <a:srgbClr val="6EB141"/>
              </a:gs>
              <a:gs pos="100000">
                <a:srgbClr val="5FA134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Endothermic reaction 🡪 Takes in energy</a:t>
            </a:r>
            <a:endParaRPr sz="4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75" name="Google Shape;575;p6"/>
          <p:cNvSpPr/>
          <p:nvPr/>
        </p:nvSpPr>
        <p:spPr>
          <a:xfrm>
            <a:off x="910261" y="2124004"/>
            <a:ext cx="10953827" cy="1938992"/>
          </a:xfrm>
          <a:prstGeom prst="rect">
            <a:avLst/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u="sng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Breaking bond needs energy = Endothermic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 b="1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 b="1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576" name="Google Shape;576;p6" descr="C:\Documents and Settings\teacher\Local Settings\Temporary Internet Files\Content.IE5\43OMSHWN\MMj02866700000[1].g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464" y="925646"/>
            <a:ext cx="15240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6"/>
          <p:cNvSpPr/>
          <p:nvPr/>
        </p:nvSpPr>
        <p:spPr>
          <a:xfrm>
            <a:off x="2928991" y="3075562"/>
            <a:ext cx="762005" cy="642942"/>
          </a:xfrm>
          <a:prstGeom prst="ellipse">
            <a:avLst/>
          </a:prstGeom>
          <a:solidFill>
            <a:srgbClr val="FFFF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6"/>
          <p:cNvSpPr/>
          <p:nvPr/>
        </p:nvSpPr>
        <p:spPr>
          <a:xfrm>
            <a:off x="7104778" y="3048525"/>
            <a:ext cx="762005" cy="642942"/>
          </a:xfrm>
          <a:prstGeom prst="ellipse">
            <a:avLst/>
          </a:prstGeom>
          <a:solidFill>
            <a:srgbClr val="FFFF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6"/>
          <p:cNvSpPr/>
          <p:nvPr/>
        </p:nvSpPr>
        <p:spPr>
          <a:xfrm>
            <a:off x="3690997" y="3089629"/>
            <a:ext cx="762005" cy="642942"/>
          </a:xfrm>
          <a:prstGeom prst="ellipse">
            <a:avLst/>
          </a:prstGeom>
          <a:solidFill>
            <a:srgbClr val="FFD96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6"/>
          <p:cNvSpPr/>
          <p:nvPr/>
        </p:nvSpPr>
        <p:spPr>
          <a:xfrm>
            <a:off x="8483714" y="3062593"/>
            <a:ext cx="762005" cy="642942"/>
          </a:xfrm>
          <a:prstGeom prst="ellipse">
            <a:avLst/>
          </a:prstGeom>
          <a:solidFill>
            <a:srgbClr val="FFD96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1" name="Google Shape;581;p6"/>
          <p:cNvCxnSpPr/>
          <p:nvPr/>
        </p:nvCxnSpPr>
        <p:spPr>
          <a:xfrm rot="10800000" flipH="1">
            <a:off x="4909625" y="3362178"/>
            <a:ext cx="1800664" cy="14068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stealth" w="med" len="med"/>
          </a:ln>
        </p:spPr>
      </p:cxnSp>
      <p:pic>
        <p:nvPicPr>
          <p:cNvPr id="582" name="Google Shape;582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760350"/>
            <a:ext cx="12192001" cy="109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5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7"/>
          <p:cNvSpPr txBox="1"/>
          <p:nvPr/>
        </p:nvSpPr>
        <p:spPr>
          <a:xfrm>
            <a:off x="857214" y="214290"/>
            <a:ext cx="10191821" cy="523220"/>
          </a:xfrm>
          <a:prstGeom prst="rect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Endothermic reaction 🡪 Takes in heat</a:t>
            </a:r>
            <a:endParaRPr/>
          </a:p>
        </p:txBody>
      </p:sp>
      <p:sp>
        <p:nvSpPr>
          <p:cNvPr id="589" name="Google Shape;589;p7"/>
          <p:cNvSpPr txBox="1"/>
          <p:nvPr/>
        </p:nvSpPr>
        <p:spPr>
          <a:xfrm>
            <a:off x="1142966" y="928671"/>
            <a:ext cx="9620317" cy="10772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Usually in the form of </a:t>
            </a:r>
            <a:r>
              <a:rPr lang="en-US" sz="3200" b="1" u="sng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heat, </a:t>
            </a:r>
            <a:r>
              <a:rPr lang="en-US" sz="32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which is shown by a </a:t>
            </a:r>
            <a:r>
              <a:rPr lang="en-US" sz="3200" b="1" u="sng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fall in temperature</a:t>
            </a:r>
            <a:r>
              <a:rPr lang="en-US" sz="32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/>
          </a:p>
        </p:txBody>
      </p:sp>
      <p:pic>
        <p:nvPicPr>
          <p:cNvPr id="590" name="Google Shape;590;p7" descr="C:\Documents and Settings\teacher\Local Settings\Temporary Internet Files\Content.IE5\43OMSHWN\MMj02866700000[1].g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240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7"/>
          <p:cNvSpPr txBox="1"/>
          <p:nvPr/>
        </p:nvSpPr>
        <p:spPr>
          <a:xfrm>
            <a:off x="1714469" y="2357431"/>
            <a:ext cx="8382059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ENDO- ENTERING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THERMAL – TEMPERATURE </a:t>
            </a:r>
            <a:endParaRPr/>
          </a:p>
        </p:txBody>
      </p:sp>
      <p:pic>
        <p:nvPicPr>
          <p:cNvPr id="592" name="Google Shape;592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760350"/>
            <a:ext cx="12192001" cy="109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Wednesday, June 1, 2022</a:t>
            </a:r>
            <a:endParaRPr/>
          </a:p>
        </p:txBody>
      </p:sp>
      <p:sp>
        <p:nvSpPr>
          <p:cNvPr id="598" name="Google Shape;598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Endothermic reaction </a:t>
            </a:r>
            <a:endParaRPr/>
          </a:p>
        </p:txBody>
      </p:sp>
      <p:pic>
        <p:nvPicPr>
          <p:cNvPr id="599" name="Google Shape;599;p8" descr="Резултат с изображение за endothermic reactio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010" y="1407240"/>
            <a:ext cx="8736036" cy="4737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6011575"/>
            <a:ext cx="12192001" cy="84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1317e272c5d_0_425"/>
          <p:cNvSpPr txBox="1">
            <a:spLocks noGrp="1"/>
          </p:cNvSpPr>
          <p:nvPr>
            <p:ph type="title" idx="4294967295"/>
          </p:nvPr>
        </p:nvSpPr>
        <p:spPr>
          <a:xfrm>
            <a:off x="3308164" y="274320"/>
            <a:ext cx="5409300" cy="4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100000"/>
              <a:buFont typeface="Calibri"/>
              <a:buNone/>
            </a:pPr>
            <a:r>
              <a:rPr lang="en-US">
                <a:solidFill>
                  <a:srgbClr val="008000"/>
                </a:solidFill>
              </a:rPr>
              <a:t>Progress check</a:t>
            </a:r>
            <a:endParaRPr/>
          </a:p>
        </p:txBody>
      </p:sp>
      <p:sp>
        <p:nvSpPr>
          <p:cNvPr id="606" name="Google Shape;606;g1317e272c5d_0_425"/>
          <p:cNvSpPr txBox="1"/>
          <p:nvPr/>
        </p:nvSpPr>
        <p:spPr>
          <a:xfrm>
            <a:off x="517391" y="1749778"/>
            <a:ext cx="11319900" cy="34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reactions transfer ___________ from the reacting chemical to the surroundings. These reactions are called _________ reactions. In these reactions the _______ goes ______.</a:t>
            </a:r>
            <a:endParaRPr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reactions transfer __________ from the surroundings to the reacting chemicals. These reactions are called ________ reactions. In these reactions the temperature goes ______. </a:t>
            </a:r>
            <a:endParaRPr sz="1800"/>
          </a:p>
        </p:txBody>
      </p:sp>
      <p:sp>
        <p:nvSpPr>
          <p:cNvPr id="607" name="Google Shape;607;g1317e272c5d_0_425"/>
          <p:cNvSpPr txBox="1"/>
          <p:nvPr/>
        </p:nvSpPr>
        <p:spPr>
          <a:xfrm>
            <a:off x="10604027" y="0"/>
            <a:ext cx="14943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minutes</a:t>
            </a:r>
            <a:endParaRPr sz="1800"/>
          </a:p>
        </p:txBody>
      </p:sp>
      <p:pic>
        <p:nvPicPr>
          <p:cNvPr id="608" name="Google Shape;608;g1317e272c5d_0_4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011575"/>
            <a:ext cx="12192001" cy="84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1317e272e51_0_0"/>
          <p:cNvSpPr txBox="1">
            <a:spLocks noGrp="1"/>
          </p:cNvSpPr>
          <p:nvPr>
            <p:ph type="title" idx="4294967295"/>
          </p:nvPr>
        </p:nvSpPr>
        <p:spPr>
          <a:xfrm>
            <a:off x="3308164" y="274320"/>
            <a:ext cx="5409300" cy="4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100000"/>
              <a:buFont typeface="Calibri"/>
              <a:buNone/>
            </a:pPr>
            <a:r>
              <a:rPr lang="en-US">
                <a:solidFill>
                  <a:srgbClr val="008000"/>
                </a:solidFill>
              </a:rPr>
              <a:t>Progress check</a:t>
            </a:r>
            <a:endParaRPr/>
          </a:p>
        </p:txBody>
      </p:sp>
      <p:sp>
        <p:nvSpPr>
          <p:cNvPr id="614" name="Google Shape;614;g1317e272e51_0_0"/>
          <p:cNvSpPr txBox="1"/>
          <p:nvPr/>
        </p:nvSpPr>
        <p:spPr>
          <a:xfrm>
            <a:off x="517391" y="1749778"/>
            <a:ext cx="11319900" cy="34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reactions transfer </a:t>
            </a:r>
            <a:r>
              <a:rPr lang="en-US" sz="3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energy</a:t>
            </a:r>
            <a:r>
              <a:rPr lang="en-US" sz="3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from the reacting chemical to the surroundings. These reactions are called </a:t>
            </a:r>
            <a:r>
              <a:rPr lang="en-US" sz="3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exothermic</a:t>
            </a:r>
            <a:r>
              <a:rPr lang="en-US" sz="3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reactions. In these reactions the </a:t>
            </a:r>
            <a:r>
              <a:rPr lang="en-US" sz="3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temperature </a:t>
            </a:r>
            <a:r>
              <a:rPr lang="en-US" sz="3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goes </a:t>
            </a:r>
            <a:r>
              <a:rPr lang="en-US" sz="3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up</a:t>
            </a:r>
            <a:endParaRPr sz="1800">
              <a:solidFill>
                <a:srgbClr val="FF000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reactions transfer </a:t>
            </a:r>
            <a:r>
              <a:rPr lang="en-US" sz="3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energy </a:t>
            </a:r>
            <a:r>
              <a:rPr lang="en-US" sz="3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the surroundings to the reacting chemicals. These reactions are called </a:t>
            </a:r>
            <a:r>
              <a:rPr lang="en-US" sz="3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endothermic</a:t>
            </a:r>
            <a:r>
              <a:rPr lang="en-US" sz="3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reactions. In these reactions the temperature goes </a:t>
            </a:r>
            <a:r>
              <a:rPr lang="en-US" sz="3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down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615" name="Google Shape;615;g1317e272e51_0_0"/>
          <p:cNvSpPr txBox="1"/>
          <p:nvPr/>
        </p:nvSpPr>
        <p:spPr>
          <a:xfrm>
            <a:off x="10604027" y="0"/>
            <a:ext cx="14943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minutes</a:t>
            </a:r>
            <a:endParaRPr sz="1800"/>
          </a:p>
        </p:txBody>
      </p:sp>
      <p:pic>
        <p:nvPicPr>
          <p:cNvPr id="616" name="Google Shape;616;g1317e272e51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819850"/>
            <a:ext cx="12192001" cy="10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g1317e272c5d_0_4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011575"/>
            <a:ext cx="12192001" cy="846425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g1317e272c5d_0_431"/>
          <p:cNvSpPr txBox="1">
            <a:spLocks noGrp="1"/>
          </p:cNvSpPr>
          <p:nvPr>
            <p:ph type="title"/>
          </p:nvPr>
        </p:nvSpPr>
        <p:spPr>
          <a:xfrm>
            <a:off x="609600" y="0"/>
            <a:ext cx="109728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100000"/>
              <a:buFont typeface="Calibri"/>
              <a:buNone/>
            </a:pPr>
            <a:r>
              <a:rPr lang="en-US">
                <a:solidFill>
                  <a:srgbClr val="008000"/>
                </a:solidFill>
              </a:rPr>
              <a:t>Progress check</a:t>
            </a:r>
            <a:endParaRPr/>
          </a:p>
        </p:txBody>
      </p:sp>
      <p:sp>
        <p:nvSpPr>
          <p:cNvPr id="623" name="Google Shape;623;g1317e272c5d_0_431"/>
          <p:cNvSpPr/>
          <p:nvPr/>
        </p:nvSpPr>
        <p:spPr>
          <a:xfrm>
            <a:off x="347150" y="568388"/>
            <a:ext cx="11844900" cy="12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Draw a table and divide the pictures into either </a:t>
            </a:r>
            <a:r>
              <a:rPr lang="en-US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exothermic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US" sz="3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endothermic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reactions. </a:t>
            </a:r>
            <a:endParaRPr sz="1800"/>
          </a:p>
        </p:txBody>
      </p:sp>
      <p:graphicFrame>
        <p:nvGraphicFramePr>
          <p:cNvPr id="624" name="Google Shape;624;g1317e272c5d_0_431"/>
          <p:cNvGraphicFramePr/>
          <p:nvPr/>
        </p:nvGraphicFramePr>
        <p:xfrm>
          <a:off x="2230960" y="188312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{7B92FA8A-0E52-4D5E-9129-64958D5265CA}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23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800" b="1" u="none" strike="noStrike" cap="none">
                          <a:solidFill>
                            <a:srgbClr val="FF0000"/>
                          </a:solidFill>
                        </a:rPr>
                        <a:t>Exothermic </a:t>
                      </a:r>
                      <a:endParaRPr sz="22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54875" marB="548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800" b="1" u="none" strike="noStrike" cap="none">
                          <a:solidFill>
                            <a:srgbClr val="0000FF"/>
                          </a:solidFill>
                        </a:rPr>
                        <a:t>Endothermic</a:t>
                      </a:r>
                      <a:endParaRPr sz="2200" b="1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121925" marR="121925" marT="54875" marB="548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3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</a:txBody>
                  <a:tcPr marL="121925" marR="121925" marT="54875" marB="548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</a:txBody>
                  <a:tcPr marL="121925" marR="121925" marT="54875" marB="548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3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</a:txBody>
                  <a:tcPr marL="121925" marR="121925" marT="54875" marB="548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</a:txBody>
                  <a:tcPr marL="121925" marR="121925" marT="54875" marB="548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3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</a:txBody>
                  <a:tcPr marL="121925" marR="121925" marT="54875" marB="548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</a:txBody>
                  <a:tcPr marL="121925" marR="121925" marT="54875" marB="548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3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</a:txBody>
                  <a:tcPr marL="121925" marR="121925" marT="54875" marB="548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</a:txBody>
                  <a:tcPr marL="121925" marR="121925" marT="54875" marB="548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25" name="Google Shape;625;g1317e272c5d_0_431"/>
          <p:cNvSpPr txBox="1"/>
          <p:nvPr/>
        </p:nvSpPr>
        <p:spPr>
          <a:xfrm>
            <a:off x="0" y="14111"/>
            <a:ext cx="15123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minutes</a:t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0" name="Google Shape;630;g1317e272e51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09050"/>
            <a:ext cx="12192001" cy="748950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g1317e272e51_0_7"/>
          <p:cNvSpPr txBox="1">
            <a:spLocks noGrp="1"/>
          </p:cNvSpPr>
          <p:nvPr>
            <p:ph type="title"/>
          </p:nvPr>
        </p:nvSpPr>
        <p:spPr>
          <a:xfrm>
            <a:off x="609600" y="0"/>
            <a:ext cx="109728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100000"/>
              <a:buFont typeface="Calibri"/>
              <a:buNone/>
            </a:pPr>
            <a:r>
              <a:rPr lang="en-US">
                <a:solidFill>
                  <a:srgbClr val="008000"/>
                </a:solidFill>
              </a:rPr>
              <a:t>Progress check</a:t>
            </a:r>
            <a:endParaRPr/>
          </a:p>
        </p:txBody>
      </p:sp>
      <p:sp>
        <p:nvSpPr>
          <p:cNvPr id="632" name="Google Shape;632;g1317e272e51_0_7"/>
          <p:cNvSpPr/>
          <p:nvPr/>
        </p:nvSpPr>
        <p:spPr>
          <a:xfrm>
            <a:off x="347150" y="568388"/>
            <a:ext cx="11844900" cy="12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Draw a table and divide the pictures into either </a:t>
            </a:r>
            <a:r>
              <a:rPr lang="en-US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exothermic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US" sz="3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endothermic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reactions. </a:t>
            </a:r>
            <a:endParaRPr sz="1800"/>
          </a:p>
        </p:txBody>
      </p:sp>
      <p:graphicFrame>
        <p:nvGraphicFramePr>
          <p:cNvPr id="633" name="Google Shape;633;g1317e272e51_0_7"/>
          <p:cNvGraphicFramePr/>
          <p:nvPr/>
        </p:nvGraphicFramePr>
        <p:xfrm>
          <a:off x="2230960" y="188312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{7B92FA8A-0E52-4D5E-9129-64958D5265CA}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23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800" b="1" u="none" strike="noStrike" cap="none">
                          <a:solidFill>
                            <a:srgbClr val="FF0000"/>
                          </a:solidFill>
                        </a:rPr>
                        <a:t>Exothermic </a:t>
                      </a:r>
                      <a:endParaRPr sz="22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121925" marR="121925" marT="54875" marB="548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800" b="1" u="none" strike="noStrike" cap="none">
                          <a:solidFill>
                            <a:srgbClr val="0000FF"/>
                          </a:solidFill>
                        </a:rPr>
                        <a:t>Endothermic</a:t>
                      </a:r>
                      <a:endParaRPr sz="2200" b="1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121925" marR="121925" marT="54875" marB="548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3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</a:txBody>
                  <a:tcPr marL="121925" marR="121925" marT="54875" marB="548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</a:txBody>
                  <a:tcPr marL="121925" marR="121925" marT="54875" marB="548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3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</a:txBody>
                  <a:tcPr marL="121925" marR="121925" marT="54875" marB="548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</a:txBody>
                  <a:tcPr marL="121925" marR="121925" marT="54875" marB="548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3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</a:txBody>
                  <a:tcPr marL="121925" marR="121925" marT="54875" marB="548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</a:txBody>
                  <a:tcPr marL="121925" marR="121925" marT="54875" marB="548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3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</a:txBody>
                  <a:tcPr marL="121925" marR="121925" marT="54875" marB="548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</a:txBody>
                  <a:tcPr marL="121925" marR="121925" marT="54875" marB="548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34" name="Google Shape;634;g1317e272e51_0_7"/>
          <p:cNvSpPr txBox="1"/>
          <p:nvPr/>
        </p:nvSpPr>
        <p:spPr>
          <a:xfrm>
            <a:off x="0" y="14111"/>
            <a:ext cx="15123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minutes</a:t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9" name="Google Shape;639;g1317e272c5d_0_438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{7B92FA8A-0E52-4D5E-9129-64958D5265CA}</a:tableStyleId>
              </a:tblPr>
              <a:tblGrid>
                <a:gridCol w="416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21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BBQ-BURNING CHARCOAL</a:t>
                      </a:r>
                      <a:endParaRPr sz="1700"/>
                    </a:p>
                  </a:txBody>
                  <a:tcPr marL="121925" marR="121925" marT="54875" marB="548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b="1">
                          <a:solidFill>
                            <a:srgbClr val="FF0000"/>
                          </a:solidFill>
                        </a:rPr>
                        <a:t>                                       </a:t>
                      </a:r>
                      <a:endParaRPr sz="17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b="1">
                          <a:solidFill>
                            <a:srgbClr val="0000FF"/>
                          </a:solidFill>
                        </a:rPr>
                        <a:t>                      </a:t>
                      </a:r>
                      <a:r>
                        <a:rPr lang="en-US" sz="2200" b="1"/>
                        <a:t>Ice packs</a:t>
                      </a:r>
                      <a:endParaRPr sz="1700"/>
                    </a:p>
                  </a:txBody>
                  <a:tcPr marL="121925" marR="121925" marT="54875" marB="548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FF0000"/>
                          </a:solidFill>
                        </a:rPr>
                        <a:t>            </a:t>
                      </a:r>
                      <a:r>
                        <a:rPr lang="en-US" sz="2200"/>
                        <a:t>Hand warmer</a:t>
                      </a:r>
                      <a:endParaRPr sz="1700"/>
                    </a:p>
                  </a:txBody>
                  <a:tcPr marL="121925" marR="121925" marT="54875" marB="548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0000FF"/>
                          </a:solidFill>
                        </a:rPr>
                        <a:t>          </a:t>
                      </a:r>
                      <a:r>
                        <a:rPr lang="en-US" sz="2200"/>
                        <a:t>Photosynthesis</a:t>
                      </a:r>
                      <a:endParaRPr sz="1700"/>
                    </a:p>
                  </a:txBody>
                  <a:tcPr marL="121925" marR="121925" marT="54875" marB="548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/>
                        <a:t>Combustion reaction</a:t>
                      </a:r>
                      <a:endParaRPr sz="1700"/>
                    </a:p>
                  </a:txBody>
                  <a:tcPr marL="121925" marR="121925" marT="54875" marB="548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b="1"/>
                        <a:t>Boiling an egg</a:t>
                      </a:r>
                      <a:endParaRPr sz="1700"/>
                    </a:p>
                  </a:txBody>
                  <a:tcPr marL="121925" marR="121925" marT="54875" marB="548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6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         </a:t>
                      </a:r>
                      <a:endParaRPr sz="2200"/>
                    </a:p>
                  </a:txBody>
                  <a:tcPr marL="121925" marR="121925" marT="54875" marB="548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0000FF"/>
                          </a:solidFill>
                        </a:rPr>
                        <a:t>                  </a:t>
                      </a:r>
                      <a:r>
                        <a:rPr lang="en-US" sz="2200"/>
                        <a:t>Ice bath</a:t>
                      </a:r>
                      <a:endParaRPr sz="1700"/>
                    </a:p>
                  </a:txBody>
                  <a:tcPr marL="121925" marR="121925" marT="54875" marB="548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/>
                    </a:p>
                  </a:txBody>
                  <a:tcPr marL="121925" marR="121925" marT="54875" marB="548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40" name="Google Shape;640;g1317e272c5d_0_438" descr="14654832-Red-hot-burning-charcoal-preparing-for-grilling--Stock-Photo-grill-charcoal-barbecu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4524" y="155222"/>
            <a:ext cx="2822129" cy="1382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g1317e272c5d_0_4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81945" y="0"/>
            <a:ext cx="2398812" cy="1840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g1317e272c5d_0_438"/>
          <p:cNvPicPr preferRelativeResize="0"/>
          <p:nvPr/>
        </p:nvPicPr>
        <p:blipFill rotWithShape="1">
          <a:blip r:embed="rId5">
            <a:alphaModFix/>
          </a:blip>
          <a:srcRect l="4630" t="13371" r="6314" b="13721"/>
          <a:stretch/>
        </p:blipFill>
        <p:spPr>
          <a:xfrm>
            <a:off x="8670216" y="155222"/>
            <a:ext cx="3135700" cy="139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g1317e272c5d_0_438" descr="Photosynthesis.gif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7892" y="2600276"/>
            <a:ext cx="3496306" cy="1322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g1317e272c5d_0_438"/>
          <p:cNvPicPr preferRelativeResize="0"/>
          <p:nvPr/>
        </p:nvPicPr>
        <p:blipFill rotWithShape="1">
          <a:blip r:embed="rId7">
            <a:alphaModFix/>
          </a:blip>
          <a:srcRect l="16946" r="42100"/>
          <a:stretch/>
        </p:blipFill>
        <p:spPr>
          <a:xfrm>
            <a:off x="5409087" y="2493488"/>
            <a:ext cx="1599206" cy="1661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g1317e272c5d_0_438" descr="How-to-cook-eggs.jp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70216" y="2493488"/>
            <a:ext cx="3229774" cy="142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g1317e272c5d_0_43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95643" y="4917640"/>
            <a:ext cx="3429651" cy="1502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g1317e272c5d_0_43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670225" y="4802075"/>
            <a:ext cx="3429650" cy="196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1317e272c5d_0_449"/>
          <p:cNvSpPr txBox="1">
            <a:spLocks noGrp="1"/>
          </p:cNvSpPr>
          <p:nvPr>
            <p:ph type="title"/>
          </p:nvPr>
        </p:nvSpPr>
        <p:spPr>
          <a:xfrm>
            <a:off x="609600" y="34751"/>
            <a:ext cx="10972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None/>
            </a:pPr>
            <a:r>
              <a:rPr lang="en-US">
                <a:solidFill>
                  <a:srgbClr val="FF0000"/>
                </a:solidFill>
              </a:rPr>
              <a:t>Exothermic</a:t>
            </a:r>
            <a:r>
              <a:rPr lang="en-US"/>
              <a:t> or </a:t>
            </a:r>
            <a:r>
              <a:rPr lang="en-US">
                <a:solidFill>
                  <a:srgbClr val="008000"/>
                </a:solidFill>
              </a:rPr>
              <a:t>endothermic? </a:t>
            </a:r>
            <a:endParaRPr/>
          </a:p>
        </p:txBody>
      </p:sp>
      <p:pic>
        <p:nvPicPr>
          <p:cNvPr id="653" name="Google Shape;653;g1317e272c5d_0_449" descr="14654832-Red-hot-burning-charcoal-preparing-for-grilling--Stock-Photo-grill-charcoal-barbecu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88667" y="2610556"/>
            <a:ext cx="6553616" cy="2525888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g1317e272c5d_0_449"/>
          <p:cNvSpPr txBox="1"/>
          <p:nvPr/>
        </p:nvSpPr>
        <p:spPr>
          <a:xfrm>
            <a:off x="2618312" y="1482236"/>
            <a:ext cx="782370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BBQ-BURNING CHARCOAL</a:t>
            </a:r>
            <a:endParaRPr sz="1800"/>
          </a:p>
        </p:txBody>
      </p:sp>
      <p:sp>
        <p:nvSpPr>
          <p:cNvPr id="655" name="Google Shape;655;g1317e272c5d_0_449"/>
          <p:cNvSpPr txBox="1"/>
          <p:nvPr/>
        </p:nvSpPr>
        <p:spPr>
          <a:xfrm>
            <a:off x="4074973" y="5327191"/>
            <a:ext cx="4783200" cy="8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EXOTHERMIC</a:t>
            </a:r>
            <a:endParaRPr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1317e272c5d_0_456"/>
          <p:cNvSpPr txBox="1">
            <a:spLocks noGrp="1"/>
          </p:cNvSpPr>
          <p:nvPr>
            <p:ph type="title"/>
          </p:nvPr>
        </p:nvSpPr>
        <p:spPr>
          <a:xfrm>
            <a:off x="609600" y="34751"/>
            <a:ext cx="10972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None/>
            </a:pPr>
            <a:r>
              <a:rPr lang="en-US">
                <a:solidFill>
                  <a:srgbClr val="FF0000"/>
                </a:solidFill>
              </a:rPr>
              <a:t>Exothermic</a:t>
            </a:r>
            <a:r>
              <a:rPr lang="en-US"/>
              <a:t> or </a:t>
            </a:r>
            <a:r>
              <a:rPr lang="en-US">
                <a:solidFill>
                  <a:srgbClr val="008000"/>
                </a:solidFill>
              </a:rPr>
              <a:t>endothermic? </a:t>
            </a:r>
            <a:endParaRPr/>
          </a:p>
        </p:txBody>
      </p:sp>
      <p:pic>
        <p:nvPicPr>
          <p:cNvPr id="661" name="Google Shape;661;g1317e272c5d_0_456" descr="How-to-cook-egg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02236" y="1717732"/>
            <a:ext cx="6318439" cy="2737908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g1317e272c5d_0_456"/>
          <p:cNvSpPr txBox="1"/>
          <p:nvPr/>
        </p:nvSpPr>
        <p:spPr>
          <a:xfrm>
            <a:off x="3792852" y="1016000"/>
            <a:ext cx="575400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BOILING AN EGG</a:t>
            </a:r>
            <a:endParaRPr sz="1800"/>
          </a:p>
        </p:txBody>
      </p:sp>
      <p:sp>
        <p:nvSpPr>
          <p:cNvPr id="663" name="Google Shape;663;g1317e272c5d_0_456"/>
          <p:cNvSpPr/>
          <p:nvPr/>
        </p:nvSpPr>
        <p:spPr>
          <a:xfrm>
            <a:off x="2665348" y="4776337"/>
            <a:ext cx="7713900" cy="18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Boiling an egg is an </a:t>
            </a:r>
            <a:r>
              <a:rPr lang="en-US" sz="57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endothermic </a:t>
            </a:r>
            <a:r>
              <a:rPr lang="en-US" sz="3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because the egg won't cook unless we add energy.</a:t>
            </a:r>
            <a:endParaRPr sz="1800"/>
          </a:p>
        </p:txBody>
      </p:sp>
      <p:sp>
        <p:nvSpPr>
          <p:cNvPr id="664" name="Google Shape;664;g1317e272c5d_0_456"/>
          <p:cNvSpPr txBox="1"/>
          <p:nvPr/>
        </p:nvSpPr>
        <p:spPr>
          <a:xfrm>
            <a:off x="-1" y="2108310"/>
            <a:ext cx="3182700" cy="17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660066"/>
                </a:solidFill>
                <a:latin typeface="Calibri"/>
                <a:ea typeface="Calibri"/>
                <a:cs typeface="Calibri"/>
                <a:sym typeface="Calibri"/>
              </a:rPr>
              <a:t>Hint: Is the egg absorbing energy or releasing energy to cook?</a:t>
            </a:r>
            <a:endParaRPr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1317e272c5d_0_464"/>
          <p:cNvSpPr txBox="1">
            <a:spLocks noGrp="1"/>
          </p:cNvSpPr>
          <p:nvPr>
            <p:ph type="title"/>
          </p:nvPr>
        </p:nvSpPr>
        <p:spPr>
          <a:xfrm>
            <a:off x="609600" y="34751"/>
            <a:ext cx="10972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None/>
            </a:pPr>
            <a:r>
              <a:rPr lang="en-US">
                <a:solidFill>
                  <a:srgbClr val="FF0000"/>
                </a:solidFill>
              </a:rPr>
              <a:t>Exothermic</a:t>
            </a:r>
            <a:r>
              <a:rPr lang="en-US"/>
              <a:t> or </a:t>
            </a:r>
            <a:r>
              <a:rPr lang="en-US">
                <a:solidFill>
                  <a:srgbClr val="008000"/>
                </a:solidFill>
              </a:rPr>
              <a:t>endothermic? </a:t>
            </a:r>
            <a:endParaRPr/>
          </a:p>
        </p:txBody>
      </p:sp>
      <p:sp>
        <p:nvSpPr>
          <p:cNvPr id="670" name="Google Shape;670;g1317e272c5d_0_464"/>
          <p:cNvSpPr txBox="1"/>
          <p:nvPr/>
        </p:nvSpPr>
        <p:spPr>
          <a:xfrm>
            <a:off x="4322532" y="1472033"/>
            <a:ext cx="5335500" cy="8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ICE BATH</a:t>
            </a:r>
            <a:endParaRPr sz="1800"/>
          </a:p>
        </p:txBody>
      </p:sp>
      <p:sp>
        <p:nvSpPr>
          <p:cNvPr id="671" name="Google Shape;671;g1317e272c5d_0_464"/>
          <p:cNvSpPr txBox="1"/>
          <p:nvPr/>
        </p:nvSpPr>
        <p:spPr>
          <a:xfrm>
            <a:off x="1567851" y="5694227"/>
            <a:ext cx="10175100" cy="10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ENDOTHERMIC</a:t>
            </a:r>
            <a:r>
              <a:rPr lang="en-US" sz="3100" b="1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- the ice melts because it takes in energy from the surroundings.</a:t>
            </a:r>
            <a:endParaRPr sz="1800"/>
          </a:p>
        </p:txBody>
      </p:sp>
      <p:pic>
        <p:nvPicPr>
          <p:cNvPr id="672" name="Google Shape;672;g1317e272c5d_0_4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9499" y="2540000"/>
            <a:ext cx="5017122" cy="2858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g1317e272c5d_0_4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87204" y="2540000"/>
            <a:ext cx="5655998" cy="2858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1317e272c5d_0_472"/>
          <p:cNvSpPr txBox="1">
            <a:spLocks noGrp="1"/>
          </p:cNvSpPr>
          <p:nvPr>
            <p:ph type="title"/>
          </p:nvPr>
        </p:nvSpPr>
        <p:spPr>
          <a:xfrm>
            <a:off x="609600" y="34751"/>
            <a:ext cx="10972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None/>
            </a:pPr>
            <a:r>
              <a:rPr lang="en-US">
                <a:solidFill>
                  <a:srgbClr val="FF0000"/>
                </a:solidFill>
              </a:rPr>
              <a:t>Exothermic</a:t>
            </a:r>
            <a:r>
              <a:rPr lang="en-US"/>
              <a:t> or </a:t>
            </a:r>
            <a:r>
              <a:rPr lang="en-US">
                <a:solidFill>
                  <a:srgbClr val="008000"/>
                </a:solidFill>
              </a:rPr>
              <a:t>endothermic? </a:t>
            </a:r>
            <a:endParaRPr/>
          </a:p>
        </p:txBody>
      </p:sp>
      <p:pic>
        <p:nvPicPr>
          <p:cNvPr id="679" name="Google Shape;679;g1317e272c5d_0_472"/>
          <p:cNvPicPr preferRelativeResize="0"/>
          <p:nvPr/>
        </p:nvPicPr>
        <p:blipFill rotWithShape="1">
          <a:blip r:embed="rId3">
            <a:alphaModFix/>
          </a:blip>
          <a:srcRect l="4630" t="13371" r="6314" b="13721"/>
          <a:stretch/>
        </p:blipFill>
        <p:spPr>
          <a:xfrm>
            <a:off x="2210669" y="2559179"/>
            <a:ext cx="7886289" cy="32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g1317e272c5d_0_472"/>
          <p:cNvSpPr txBox="1"/>
          <p:nvPr/>
        </p:nvSpPr>
        <p:spPr>
          <a:xfrm>
            <a:off x="3412092" y="1399271"/>
            <a:ext cx="5493300" cy="9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HAND WARMER</a:t>
            </a:r>
            <a:endParaRPr sz="1800"/>
          </a:p>
        </p:txBody>
      </p:sp>
      <p:sp>
        <p:nvSpPr>
          <p:cNvPr id="681" name="Google Shape;681;g1317e272c5d_0_472"/>
          <p:cNvSpPr txBox="1"/>
          <p:nvPr/>
        </p:nvSpPr>
        <p:spPr>
          <a:xfrm>
            <a:off x="4161195" y="5995598"/>
            <a:ext cx="474390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EXOTHERMIC</a:t>
            </a:r>
            <a:endParaRPr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1317e272c5d_0_479"/>
          <p:cNvSpPr txBox="1">
            <a:spLocks noGrp="1"/>
          </p:cNvSpPr>
          <p:nvPr>
            <p:ph type="title"/>
          </p:nvPr>
        </p:nvSpPr>
        <p:spPr>
          <a:xfrm>
            <a:off x="609600" y="34751"/>
            <a:ext cx="10972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None/>
            </a:pPr>
            <a:r>
              <a:rPr lang="en-US">
                <a:solidFill>
                  <a:srgbClr val="FF0000"/>
                </a:solidFill>
              </a:rPr>
              <a:t>Exothermic</a:t>
            </a:r>
            <a:r>
              <a:rPr lang="en-US"/>
              <a:t> or </a:t>
            </a:r>
            <a:r>
              <a:rPr lang="en-US">
                <a:solidFill>
                  <a:srgbClr val="008000"/>
                </a:solidFill>
              </a:rPr>
              <a:t>endothermic? </a:t>
            </a:r>
            <a:endParaRPr/>
          </a:p>
        </p:txBody>
      </p:sp>
      <p:pic>
        <p:nvPicPr>
          <p:cNvPr id="687" name="Google Shape;687;g1317e272c5d_0_479" descr="Photosynthesis.g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08293" y="2397301"/>
            <a:ext cx="4766263" cy="3171614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g1317e272c5d_0_479"/>
          <p:cNvSpPr txBox="1"/>
          <p:nvPr/>
        </p:nvSpPr>
        <p:spPr>
          <a:xfrm>
            <a:off x="6882859" y="1553946"/>
            <a:ext cx="48915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PHOTOSYNTHESIS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g1317e272c5d_0_479"/>
          <p:cNvSpPr txBox="1"/>
          <p:nvPr/>
        </p:nvSpPr>
        <p:spPr>
          <a:xfrm>
            <a:off x="6472179" y="5834731"/>
            <a:ext cx="5302500" cy="8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ENDOTHERMIC</a:t>
            </a:r>
            <a:endParaRPr sz="2300" b="1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g1317e272c5d_0_479"/>
          <p:cNvSpPr/>
          <p:nvPr/>
        </p:nvSpPr>
        <p:spPr>
          <a:xfrm>
            <a:off x="609600" y="2029204"/>
            <a:ext cx="4924800" cy="24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During photosynthesis, plants </a:t>
            </a:r>
            <a:r>
              <a:rPr lang="en-US" sz="3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absorb the energy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the sun to convert carbon dioxide and water into glucose and oxygen.</a:t>
            </a:r>
            <a:endParaRPr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g1317e272c5d_0_479"/>
          <p:cNvSpPr/>
          <p:nvPr/>
        </p:nvSpPr>
        <p:spPr>
          <a:xfrm>
            <a:off x="0" y="4423106"/>
            <a:ext cx="7008300" cy="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sunlight</a:t>
            </a:r>
            <a:r>
              <a:rPr lang="en-US" sz="2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+ 6CO</a:t>
            </a:r>
            <a:r>
              <a:rPr lang="en-US" sz="2300" b="1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(g) + 6H</a:t>
            </a:r>
            <a:r>
              <a:rPr lang="en-US" sz="2300" b="1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O(l) 🡪 C</a:t>
            </a:r>
            <a:r>
              <a:rPr lang="en-US" sz="2300" b="1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sz="2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-US" sz="2300" b="1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en-US" sz="2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US" sz="2300" b="1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sz="2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(aq) + 6O</a:t>
            </a:r>
            <a:r>
              <a:rPr lang="en-US" sz="2300" b="1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(g) </a:t>
            </a:r>
            <a:endParaRPr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1317e272c5d_0_488"/>
          <p:cNvSpPr txBox="1">
            <a:spLocks noGrp="1"/>
          </p:cNvSpPr>
          <p:nvPr>
            <p:ph type="title"/>
          </p:nvPr>
        </p:nvSpPr>
        <p:spPr>
          <a:xfrm>
            <a:off x="609600" y="34751"/>
            <a:ext cx="10972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None/>
            </a:pPr>
            <a:r>
              <a:rPr lang="en-US">
                <a:solidFill>
                  <a:srgbClr val="FF0000"/>
                </a:solidFill>
              </a:rPr>
              <a:t>Exothermic</a:t>
            </a:r>
            <a:r>
              <a:rPr lang="en-US"/>
              <a:t> or </a:t>
            </a:r>
            <a:r>
              <a:rPr lang="en-US">
                <a:solidFill>
                  <a:srgbClr val="008000"/>
                </a:solidFill>
              </a:rPr>
              <a:t>endothermic? </a:t>
            </a:r>
            <a:endParaRPr/>
          </a:p>
        </p:txBody>
      </p:sp>
      <p:sp>
        <p:nvSpPr>
          <p:cNvPr id="697" name="Google Shape;697;g1317e272c5d_0_488"/>
          <p:cNvSpPr txBox="1"/>
          <p:nvPr/>
        </p:nvSpPr>
        <p:spPr>
          <a:xfrm>
            <a:off x="3966663" y="5601642"/>
            <a:ext cx="5302500" cy="8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EXOTHERMIC</a:t>
            </a:r>
            <a:endParaRPr sz="2300" b="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8" name="Google Shape;698;g1317e272c5d_0_488"/>
          <p:cNvPicPr preferRelativeResize="0"/>
          <p:nvPr/>
        </p:nvPicPr>
        <p:blipFill rotWithShape="1">
          <a:blip r:embed="rId3">
            <a:alphaModFix/>
          </a:blip>
          <a:srcRect l="16946" r="42100"/>
          <a:stretch/>
        </p:blipFill>
        <p:spPr>
          <a:xfrm>
            <a:off x="5330695" y="2892778"/>
            <a:ext cx="1599206" cy="1845732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g1317e272c5d_0_488"/>
          <p:cNvSpPr txBox="1"/>
          <p:nvPr/>
        </p:nvSpPr>
        <p:spPr>
          <a:xfrm>
            <a:off x="3747164" y="1783577"/>
            <a:ext cx="498960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Combustion reaction</a:t>
            </a:r>
            <a:endParaRPr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1317e272c5d_0_495"/>
          <p:cNvSpPr txBox="1"/>
          <p:nvPr/>
        </p:nvSpPr>
        <p:spPr>
          <a:xfrm>
            <a:off x="3684449" y="169333"/>
            <a:ext cx="43965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Combustion reaction</a:t>
            </a:r>
            <a:endParaRPr sz="1800"/>
          </a:p>
        </p:txBody>
      </p:sp>
      <p:sp>
        <p:nvSpPr>
          <p:cNvPr id="705" name="Google Shape;705;g1317e272c5d_0_495"/>
          <p:cNvSpPr/>
          <p:nvPr/>
        </p:nvSpPr>
        <p:spPr>
          <a:xfrm>
            <a:off x="0" y="1290893"/>
            <a:ext cx="12192000" cy="18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general, for complete combustion:</a:t>
            </a:r>
            <a:endParaRPr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hydrocarbon + oxygen    →    carbon dioxide + water</a:t>
            </a:r>
            <a:endParaRPr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1317e272c5d_0_583"/>
          <p:cNvSpPr txBox="1">
            <a:spLocks noGrp="1"/>
          </p:cNvSpPr>
          <p:nvPr>
            <p:ph type="title"/>
          </p:nvPr>
        </p:nvSpPr>
        <p:spPr>
          <a:xfrm>
            <a:off x="609600" y="34751"/>
            <a:ext cx="10972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None/>
            </a:pPr>
            <a:r>
              <a:rPr lang="en-US">
                <a:solidFill>
                  <a:srgbClr val="FF0000"/>
                </a:solidFill>
              </a:rPr>
              <a:t>Exothermic</a:t>
            </a:r>
            <a:r>
              <a:rPr lang="en-US"/>
              <a:t> or </a:t>
            </a:r>
            <a:r>
              <a:rPr lang="en-US">
                <a:solidFill>
                  <a:srgbClr val="008000"/>
                </a:solidFill>
              </a:rPr>
              <a:t>endothermic? </a:t>
            </a:r>
            <a:endParaRPr/>
          </a:p>
        </p:txBody>
      </p:sp>
      <p:pic>
        <p:nvPicPr>
          <p:cNvPr id="711" name="Google Shape;711;g1317e272c5d_0_5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4025" y="2731450"/>
            <a:ext cx="3429650" cy="19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g1317e272c5d_0_583"/>
          <p:cNvSpPr txBox="1"/>
          <p:nvPr/>
        </p:nvSpPr>
        <p:spPr>
          <a:xfrm>
            <a:off x="3168004" y="5262006"/>
            <a:ext cx="5302500" cy="8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1">
                <a:solidFill>
                  <a:srgbClr val="0000FF"/>
                </a:solidFill>
              </a:rPr>
              <a:t>   </a:t>
            </a:r>
            <a:r>
              <a:rPr lang="en-US" sz="46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ENDOTHERMIC</a:t>
            </a:r>
            <a:endParaRPr sz="2300" b="1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1317e272c5d_0_500"/>
          <p:cNvSpPr txBox="1">
            <a:spLocks noGrp="1"/>
          </p:cNvSpPr>
          <p:nvPr>
            <p:ph type="title"/>
          </p:nvPr>
        </p:nvSpPr>
        <p:spPr>
          <a:xfrm>
            <a:off x="609600" y="34751"/>
            <a:ext cx="10972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None/>
            </a:pPr>
            <a:r>
              <a:rPr lang="en-US">
                <a:solidFill>
                  <a:srgbClr val="FF0000"/>
                </a:solidFill>
              </a:rPr>
              <a:t>Exothermic</a:t>
            </a:r>
            <a:r>
              <a:rPr lang="en-US"/>
              <a:t> or </a:t>
            </a:r>
            <a:r>
              <a:rPr lang="en-US">
                <a:solidFill>
                  <a:srgbClr val="008000"/>
                </a:solidFill>
              </a:rPr>
              <a:t>endothermic? </a:t>
            </a:r>
            <a:endParaRPr/>
          </a:p>
        </p:txBody>
      </p:sp>
      <p:pic>
        <p:nvPicPr>
          <p:cNvPr id="718" name="Google Shape;718;g1317e272c5d_0_5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934257">
            <a:off x="4514966" y="2162665"/>
            <a:ext cx="2906565" cy="2897083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g1317e272c5d_0_500"/>
          <p:cNvSpPr txBox="1"/>
          <p:nvPr/>
        </p:nvSpPr>
        <p:spPr>
          <a:xfrm>
            <a:off x="4860337" y="1123990"/>
            <a:ext cx="207570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 b="1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Ice pack</a:t>
            </a:r>
            <a:endParaRPr sz="1800"/>
          </a:p>
        </p:txBody>
      </p:sp>
      <p:sp>
        <p:nvSpPr>
          <p:cNvPr id="720" name="Google Shape;720;g1317e272c5d_0_500"/>
          <p:cNvSpPr txBox="1"/>
          <p:nvPr/>
        </p:nvSpPr>
        <p:spPr>
          <a:xfrm>
            <a:off x="3168004" y="5262006"/>
            <a:ext cx="5302500" cy="8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58900" rIns="117825" bIns="58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1">
                <a:solidFill>
                  <a:srgbClr val="0000FF"/>
                </a:solidFill>
              </a:rPr>
              <a:t>   </a:t>
            </a:r>
            <a:r>
              <a:rPr lang="en-US" sz="46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ENDOTHERMIC</a:t>
            </a:r>
            <a:endParaRPr sz="2300" b="1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g1303427131d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819850"/>
            <a:ext cx="12192001" cy="10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g1303427131d_0_32"/>
          <p:cNvSpPr txBox="1"/>
          <p:nvPr/>
        </p:nvSpPr>
        <p:spPr>
          <a:xfrm>
            <a:off x="1180850" y="748750"/>
            <a:ext cx="9156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Please complete the exam questions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1321dd50e25_3_56"/>
          <p:cNvSpPr txBox="1">
            <a:spLocks noGrp="1"/>
          </p:cNvSpPr>
          <p:nvPr>
            <p:ph type="body" idx="1"/>
          </p:nvPr>
        </p:nvSpPr>
        <p:spPr>
          <a:xfrm>
            <a:off x="462625" y="2091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595A"/>
              </a:buClr>
              <a:buSzPts val="2800"/>
              <a:buNone/>
            </a:pPr>
            <a:r>
              <a:rPr lang="en-US" sz="4700"/>
              <a:t>Complete the handout</a:t>
            </a:r>
            <a:endParaRPr sz="4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QES 3">
      <a:dk1>
        <a:srgbClr val="B1B2B3"/>
      </a:dk1>
      <a:lt1>
        <a:srgbClr val="FFFFFF"/>
      </a:lt1>
      <a:dk2>
        <a:srgbClr val="71206A"/>
      </a:dk2>
      <a:lt2>
        <a:srgbClr val="00ADC6"/>
      </a:lt2>
      <a:accent1>
        <a:srgbClr val="1E1248"/>
      </a:accent1>
      <a:accent2>
        <a:srgbClr val="CA9500"/>
      </a:accent2>
      <a:accent3>
        <a:srgbClr val="00658C"/>
      </a:accent3>
      <a:accent4>
        <a:srgbClr val="902082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QES PowerPoint template">
  <a:themeElements>
    <a:clrScheme name="QES 3">
      <a:dk1>
        <a:srgbClr val="B1B2B3"/>
      </a:dk1>
      <a:lt1>
        <a:srgbClr val="FFFFFF"/>
      </a:lt1>
      <a:dk2>
        <a:srgbClr val="71206A"/>
      </a:dk2>
      <a:lt2>
        <a:srgbClr val="00ADC6"/>
      </a:lt2>
      <a:accent1>
        <a:srgbClr val="1E1248"/>
      </a:accent1>
      <a:accent2>
        <a:srgbClr val="CA9500"/>
      </a:accent2>
      <a:accent3>
        <a:srgbClr val="00658C"/>
      </a:accent3>
      <a:accent4>
        <a:srgbClr val="902082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928</Words>
  <Application>Microsoft Office PowerPoint</Application>
  <PresentationFormat>Widescreen</PresentationFormat>
  <Paragraphs>211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Arial</vt:lpstr>
      <vt:lpstr>Avenir</vt:lpstr>
      <vt:lpstr>Calibri</vt:lpstr>
      <vt:lpstr>Comic Sans MS</vt:lpstr>
      <vt:lpstr>Office Theme</vt:lpstr>
      <vt:lpstr>Office Theme</vt:lpstr>
      <vt:lpstr>Office Theme</vt:lpstr>
      <vt:lpstr>Office Theme</vt:lpstr>
      <vt:lpstr>Office Theme</vt:lpstr>
      <vt:lpstr>QES PowerPoint template</vt:lpstr>
      <vt:lpstr>New topic C5 Energy changes</vt:lpstr>
      <vt:lpstr>Retrieval questions </vt:lpstr>
      <vt:lpstr>Retrieval questions </vt:lpstr>
      <vt:lpstr>PowerPoint Presentation</vt:lpstr>
      <vt:lpstr>Learning objectives: </vt:lpstr>
      <vt:lpstr>What is a Chemical Reaction?</vt:lpstr>
      <vt:lpstr>This is what we observe…</vt:lpstr>
      <vt:lpstr>This is what’s going on…</vt:lpstr>
      <vt:lpstr>PowerPoint Presentation</vt:lpstr>
      <vt:lpstr>PowerPoint Presentation</vt:lpstr>
      <vt:lpstr>PowerPoint Presentation</vt:lpstr>
      <vt:lpstr>PowerPoint Presentation</vt:lpstr>
      <vt:lpstr>Exothermic reaction </vt:lpstr>
      <vt:lpstr>PowerPoint Presentation</vt:lpstr>
      <vt:lpstr>PowerPoint Presentation</vt:lpstr>
      <vt:lpstr>PowerPoint Presentation</vt:lpstr>
      <vt:lpstr>PowerPoint Presentation</vt:lpstr>
      <vt:lpstr>Endothermic reaction </vt:lpstr>
      <vt:lpstr>Progress check</vt:lpstr>
      <vt:lpstr>Progress check</vt:lpstr>
      <vt:lpstr>Progress check</vt:lpstr>
      <vt:lpstr>Progress check</vt:lpstr>
      <vt:lpstr>PowerPoint Presentation</vt:lpstr>
      <vt:lpstr>Exothermic or endothermic? </vt:lpstr>
      <vt:lpstr>Exothermic or endothermic? </vt:lpstr>
      <vt:lpstr>Exothermic or endothermic? </vt:lpstr>
      <vt:lpstr>Exothermic or endothermic? </vt:lpstr>
      <vt:lpstr>Exothermic or endothermic? </vt:lpstr>
      <vt:lpstr>Exothermic or endothermic? </vt:lpstr>
      <vt:lpstr>PowerPoint Presentation</vt:lpstr>
      <vt:lpstr>Exothermic or endothermic? </vt:lpstr>
      <vt:lpstr>Exothermic or endothermic?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topic C5 Energy changes</dc:title>
  <dc:creator>Mrs N Cole</dc:creator>
  <cp:lastModifiedBy>prahman@qesluton.co.uk</cp:lastModifiedBy>
  <cp:revision>1</cp:revision>
  <dcterms:created xsi:type="dcterms:W3CDTF">2017-08-19T13:26:05Z</dcterms:created>
  <dcterms:modified xsi:type="dcterms:W3CDTF">2024-06-09T15:55:20Z</dcterms:modified>
</cp:coreProperties>
</file>